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MFGX AI. One screen for a manufacturing shift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routine is real work, repeated daily, and none of it is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Briefing, root cause, document search, and the day picker.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one. Arithmetic in pandas, prose from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routes, each deliberate. No intent classifier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saving is the whole morning routine, not one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first. Nothing computed from plant data depends on a third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link plus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822960" y="1828800"/>
            <a:ext cx="8229600" cy="109728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MFGX AI</a:t>
            </a:r>
            <a:endParaRPr lang="en-US" sz="6200" dirty="0"/>
          </a:p>
        </p:txBody>
      </p:sp>
      <p:sp>
        <p:nvSpPr>
          <p:cNvPr id="3" name="Text 1"/>
          <p:cNvSpPr/>
          <p:nvPr/>
        </p:nvSpPr>
        <p:spPr>
          <a:xfrm>
            <a:off x="822960" y="3017520"/>
            <a:ext cx="9601200" cy="457200"/>
          </a:xfrm>
          <a:prstGeom prst="rect">
            <a:avLst/>
          </a:prstGeom>
          <a:noFill/>
          <a:ln/>
        </p:spPr>
        <p:txBody>
          <a:bodyPr wrap="square" lIns="0" tIns="0" rIns="0" bIns="0" rtlCol="0" anchor="ctr"/>
          <a:lstStyle/>
          <a:p>
            <a:pPr indent="0" marL="0">
              <a:buNone/>
            </a:pPr>
            <a:r>
              <a:rPr lang="en-US" sz="2000" dirty="0">
                <a:solidFill>
                  <a:srgbClr val="00A896"/>
                </a:solidFill>
                <a:latin typeface="Calibri" pitchFamily="34" charset="0"/>
                <a:ea typeface="Calibri" pitchFamily="34" charset="-122"/>
                <a:cs typeface="Calibri" pitchFamily="34" charset="-120"/>
              </a:rPr>
              <a:t>The morning shift review, done before you sit down</a:t>
            </a:r>
            <a:endParaRPr lang="en-US" sz="2000" dirty="0"/>
          </a:p>
        </p:txBody>
      </p:sp>
      <p:sp>
        <p:nvSpPr>
          <p:cNvPr id="4" name="Text 2"/>
          <p:cNvSpPr/>
          <p:nvPr/>
        </p:nvSpPr>
        <p:spPr>
          <a:xfrm>
            <a:off x="822960" y="3749040"/>
            <a:ext cx="8046720" cy="1097280"/>
          </a:xfrm>
          <a:prstGeom prst="rect">
            <a:avLst/>
          </a:prstGeom>
          <a:noFill/>
          <a:ln/>
        </p:spPr>
        <p:txBody>
          <a:bodyPr wrap="square" lIns="0" tIns="0" rIns="0" bIns="0" rtlCol="0" anchor="ctr"/>
          <a:lstStyle/>
          <a:p>
            <a:pPr indent="0" marL="0">
              <a:lnSpc>
                <a:spcPts val="2200"/>
              </a:lnSpc>
              <a:buNone/>
            </a:pPr>
            <a:r>
              <a:rPr lang="en-US" sz="1400" dirty="0">
                <a:solidFill>
                  <a:srgbClr val="B8D4D4"/>
                </a:solidFill>
                <a:latin typeface="Calibri" pitchFamily="34" charset="0"/>
                <a:ea typeface="Calibri" pitchFamily="34" charset="-122"/>
                <a:cs typeface="Calibri" pitchFamily="34" charset="-120"/>
              </a:rPr>
              <a:t>A supervisor opens one window. The day is already summarised, every stoppage is one click from its likely cause, and the plant manuals answer in plain language.</a:t>
            </a:r>
            <a:endParaRPr lang="en-US" sz="1400" dirty="0"/>
          </a:p>
        </p:txBody>
      </p:sp>
      <p:sp>
        <p:nvSpPr>
          <p:cNvPr id="5" name="Shape 3"/>
          <p:cNvSpPr/>
          <p:nvPr/>
        </p:nvSpPr>
        <p:spPr>
          <a:xfrm>
            <a:off x="822960" y="5257800"/>
            <a:ext cx="128016" cy="128016"/>
          </a:xfrm>
          <a:prstGeom prst="ellipse">
            <a:avLst/>
          </a:prstGeom>
          <a:solidFill>
            <a:srgbClr val="02C39A"/>
          </a:solidFill>
          <a:ln/>
        </p:spPr>
      </p:sp>
      <p:sp>
        <p:nvSpPr>
          <p:cNvPr id="6" name="Text 4"/>
          <p:cNvSpPr/>
          <p:nvPr/>
        </p:nvSpPr>
        <p:spPr>
          <a:xfrm>
            <a:off x="1060704" y="5184648"/>
            <a:ext cx="5486400" cy="274320"/>
          </a:xfrm>
          <a:prstGeom prst="rect">
            <a:avLst/>
          </a:prstGeom>
          <a:noFill/>
          <a:ln/>
        </p:spPr>
        <p:txBody>
          <a:bodyPr wrap="square" lIns="0" tIns="0" rIns="0" bIns="0" rtlCol="0" anchor="ctr"/>
          <a:lstStyle/>
          <a:p>
            <a:pPr indent="0" marL="0">
              <a:buNone/>
            </a:pPr>
            <a:r>
              <a:rPr lang="en-US" sz="1200" dirty="0">
                <a:solidFill>
                  <a:srgbClr val="00A896"/>
                </a:solidFill>
                <a:latin typeface="Calibri" pitchFamily="34" charset="0"/>
                <a:ea typeface="Calibri" pitchFamily="34" charset="-122"/>
                <a:cs typeface="Calibri" pitchFamily="34" charset="-120"/>
              </a:rPr>
              <a:t>Built for the MFGX AI hackathon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694944"/>
            <a:ext cx="109728" cy="109728"/>
          </a:xfrm>
          <a:prstGeom prst="ellipse">
            <a:avLst/>
          </a:prstGeom>
          <a:solidFill>
            <a:srgbClr val="02C39A"/>
          </a:solidFill>
          <a:ln/>
        </p:spPr>
      </p:sp>
      <p:sp>
        <p:nvSpPr>
          <p:cNvPr id="3" name="Text 1"/>
          <p:cNvSpPr/>
          <p:nvPr/>
        </p:nvSpPr>
        <p:spPr>
          <a:xfrm>
            <a:off x="1042416" y="640080"/>
            <a:ext cx="5486400" cy="237744"/>
          </a:xfrm>
          <a:prstGeom prst="rect">
            <a:avLst/>
          </a:prstGeom>
          <a:noFill/>
          <a:ln/>
        </p:spPr>
        <p:txBody>
          <a:bodyPr wrap="square" lIns="0" tIns="0" rIns="0" bIns="0" rtlCol="0" anchor="ctr"/>
          <a:lstStyle/>
          <a:p>
            <a:pPr indent="0" marL="0">
              <a:buNone/>
            </a:pPr>
            <a:r>
              <a:rPr lang="en-US" sz="1100" b="1" spc="200" kern="0" dirty="0">
                <a:solidFill>
                  <a:srgbClr val="4A6B70"/>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822960" y="1051560"/>
            <a:ext cx="10607040" cy="822960"/>
          </a:xfrm>
          <a:prstGeom prst="rect">
            <a:avLst/>
          </a:prstGeom>
          <a:noFill/>
          <a:ln/>
        </p:spPr>
        <p:txBody>
          <a:bodyPr wrap="square" lIns="0" tIns="0" rIns="0" bIns="0" rtlCol="0" anchor="ctr"/>
          <a:lstStyle/>
          <a:p>
            <a:pPr indent="0" marL="0">
              <a:buNone/>
            </a:pPr>
            <a:r>
              <a:rPr lang="en-US" sz="3600" b="1" dirty="0">
                <a:solidFill>
                  <a:srgbClr val="0B2E33"/>
                </a:solidFill>
                <a:latin typeface="Cambria" pitchFamily="34" charset="0"/>
                <a:ea typeface="Cambria" pitchFamily="34" charset="-122"/>
                <a:cs typeface="Cambria" pitchFamily="34" charset="-120"/>
              </a:rPr>
              <a:t>35 minutes of spreadsheet, every morning</a:t>
            </a:r>
            <a:endParaRPr lang="en-US" sz="3600" dirty="0"/>
          </a:p>
        </p:txBody>
      </p:sp>
      <p:sp>
        <p:nvSpPr>
          <p:cNvPr id="5" name="Shape 3"/>
          <p:cNvSpPr/>
          <p:nvPr/>
        </p:nvSpPr>
        <p:spPr>
          <a:xfrm>
            <a:off x="822960" y="2377440"/>
            <a:ext cx="2468880" cy="2788920"/>
          </a:xfrm>
          <a:prstGeom prst="roundRect">
            <a:avLst>
              <a:gd name="adj" fmla="val 2963"/>
            </a:avLst>
          </a:prstGeom>
          <a:solidFill>
            <a:srgbClr val="F2F7F7"/>
          </a:solidFill>
          <a:ln w="12700">
            <a:solidFill>
              <a:srgbClr val="D9E6E6"/>
            </a:solidFill>
            <a:prstDash val="solid"/>
          </a:ln>
        </p:spPr>
      </p:sp>
      <p:sp>
        <p:nvSpPr>
          <p:cNvPr id="6" name="Shape 4"/>
          <p:cNvSpPr/>
          <p:nvPr/>
        </p:nvSpPr>
        <p:spPr>
          <a:xfrm>
            <a:off x="1115568" y="2697480"/>
            <a:ext cx="512064" cy="512064"/>
          </a:xfrm>
          <a:prstGeom prst="ellipse">
            <a:avLst/>
          </a:prstGeom>
          <a:solidFill>
            <a:srgbClr val="028090"/>
          </a:solidFill>
          <a:ln/>
        </p:spPr>
      </p:sp>
      <p:sp>
        <p:nvSpPr>
          <p:cNvPr id="7" name="Text 5"/>
          <p:cNvSpPr/>
          <p:nvPr/>
        </p:nvSpPr>
        <p:spPr>
          <a:xfrm>
            <a:off x="1115568" y="269748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115568" y="3429000"/>
            <a:ext cx="1920240" cy="310896"/>
          </a:xfrm>
          <a:prstGeom prst="rect">
            <a:avLst/>
          </a:prstGeom>
          <a:noFill/>
          <a:ln/>
        </p:spPr>
        <p:txBody>
          <a:bodyPr wrap="square" lIns="0" tIns="0" rIns="0" bIns="0" rtlCol="0" anchor="ctr"/>
          <a:lstStyle/>
          <a:p>
            <a:pPr indent="0" marL="0">
              <a:buNone/>
            </a:pPr>
            <a:r>
              <a:rPr lang="en-US" sz="1600" b="1" dirty="0">
                <a:solidFill>
                  <a:srgbClr val="0B2E33"/>
                </a:solidFill>
                <a:latin typeface="Calibri" pitchFamily="34" charset="0"/>
                <a:ea typeface="Calibri" pitchFamily="34" charset="-122"/>
                <a:cs typeface="Calibri" pitchFamily="34" charset="-120"/>
              </a:rPr>
              <a:t>Pull counts</a:t>
            </a:r>
            <a:endParaRPr lang="en-US" sz="1600" dirty="0"/>
          </a:p>
        </p:txBody>
      </p:sp>
      <p:sp>
        <p:nvSpPr>
          <p:cNvPr id="9" name="Text 7"/>
          <p:cNvSpPr/>
          <p:nvPr/>
        </p:nvSpPr>
        <p:spPr>
          <a:xfrm>
            <a:off x="1115568" y="3822192"/>
            <a:ext cx="1920240" cy="118872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Export yesterday per machine, per shift, and line them up</a:t>
            </a:r>
            <a:endParaRPr lang="en-US" sz="1200" dirty="0"/>
          </a:p>
        </p:txBody>
      </p:sp>
      <p:sp>
        <p:nvSpPr>
          <p:cNvPr id="10" name="Shape 8"/>
          <p:cNvSpPr/>
          <p:nvPr/>
        </p:nvSpPr>
        <p:spPr>
          <a:xfrm>
            <a:off x="3520440" y="2377440"/>
            <a:ext cx="2468880" cy="2788920"/>
          </a:xfrm>
          <a:prstGeom prst="roundRect">
            <a:avLst>
              <a:gd name="adj" fmla="val 2963"/>
            </a:avLst>
          </a:prstGeom>
          <a:solidFill>
            <a:srgbClr val="F2F7F7"/>
          </a:solidFill>
          <a:ln w="12700">
            <a:solidFill>
              <a:srgbClr val="D9E6E6"/>
            </a:solidFill>
            <a:prstDash val="solid"/>
          </a:ln>
        </p:spPr>
      </p:sp>
      <p:sp>
        <p:nvSpPr>
          <p:cNvPr id="11" name="Shape 9"/>
          <p:cNvSpPr/>
          <p:nvPr/>
        </p:nvSpPr>
        <p:spPr>
          <a:xfrm>
            <a:off x="3813048" y="2697480"/>
            <a:ext cx="512064" cy="512064"/>
          </a:xfrm>
          <a:prstGeom prst="ellipse">
            <a:avLst/>
          </a:prstGeom>
          <a:solidFill>
            <a:srgbClr val="028090"/>
          </a:solidFill>
          <a:ln/>
        </p:spPr>
      </p:sp>
      <p:sp>
        <p:nvSpPr>
          <p:cNvPr id="12" name="Text 10"/>
          <p:cNvSpPr/>
          <p:nvPr/>
        </p:nvSpPr>
        <p:spPr>
          <a:xfrm>
            <a:off x="3813048" y="269748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3813048" y="3429000"/>
            <a:ext cx="1920240" cy="310896"/>
          </a:xfrm>
          <a:prstGeom prst="rect">
            <a:avLst/>
          </a:prstGeom>
          <a:noFill/>
          <a:ln/>
        </p:spPr>
        <p:txBody>
          <a:bodyPr wrap="square" lIns="0" tIns="0" rIns="0" bIns="0" rtlCol="0" anchor="ctr"/>
          <a:lstStyle/>
          <a:p>
            <a:pPr indent="0" marL="0">
              <a:buNone/>
            </a:pPr>
            <a:r>
              <a:rPr lang="en-US" sz="1600" b="1" dirty="0">
                <a:solidFill>
                  <a:srgbClr val="0B2E33"/>
                </a:solidFill>
                <a:latin typeface="Calibri" pitchFamily="34" charset="0"/>
                <a:ea typeface="Calibri" pitchFamily="34" charset="-122"/>
                <a:cs typeface="Calibri" pitchFamily="34" charset="-120"/>
              </a:rPr>
              <a:t>Do the maths</a:t>
            </a:r>
            <a:endParaRPr lang="en-US" sz="1600" dirty="0"/>
          </a:p>
        </p:txBody>
      </p:sp>
      <p:sp>
        <p:nvSpPr>
          <p:cNvPr id="14" name="Text 12"/>
          <p:cNvSpPr/>
          <p:nvPr/>
        </p:nvSpPr>
        <p:spPr>
          <a:xfrm>
            <a:off x="3813048" y="3822192"/>
            <a:ext cx="1920240" cy="118872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Availability, performance, quality, then OEE by hand</a:t>
            </a:r>
            <a:endParaRPr lang="en-US" sz="1200" dirty="0"/>
          </a:p>
        </p:txBody>
      </p:sp>
      <p:sp>
        <p:nvSpPr>
          <p:cNvPr id="15" name="Shape 13"/>
          <p:cNvSpPr/>
          <p:nvPr/>
        </p:nvSpPr>
        <p:spPr>
          <a:xfrm>
            <a:off x="6217920" y="2377440"/>
            <a:ext cx="2468880" cy="2788920"/>
          </a:xfrm>
          <a:prstGeom prst="roundRect">
            <a:avLst>
              <a:gd name="adj" fmla="val 2963"/>
            </a:avLst>
          </a:prstGeom>
          <a:solidFill>
            <a:srgbClr val="F2F7F7"/>
          </a:solidFill>
          <a:ln w="12700">
            <a:solidFill>
              <a:srgbClr val="D9E6E6"/>
            </a:solidFill>
            <a:prstDash val="solid"/>
          </a:ln>
        </p:spPr>
      </p:sp>
      <p:sp>
        <p:nvSpPr>
          <p:cNvPr id="16" name="Shape 14"/>
          <p:cNvSpPr/>
          <p:nvPr/>
        </p:nvSpPr>
        <p:spPr>
          <a:xfrm>
            <a:off x="6510528" y="2697480"/>
            <a:ext cx="512064" cy="512064"/>
          </a:xfrm>
          <a:prstGeom prst="ellipse">
            <a:avLst/>
          </a:prstGeom>
          <a:solidFill>
            <a:srgbClr val="028090"/>
          </a:solidFill>
          <a:ln/>
        </p:spPr>
      </p:sp>
      <p:sp>
        <p:nvSpPr>
          <p:cNvPr id="17" name="Text 15"/>
          <p:cNvSpPr/>
          <p:nvPr/>
        </p:nvSpPr>
        <p:spPr>
          <a:xfrm>
            <a:off x="6510528" y="269748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8" name="Text 16"/>
          <p:cNvSpPr/>
          <p:nvPr/>
        </p:nvSpPr>
        <p:spPr>
          <a:xfrm>
            <a:off x="6510528" y="3429000"/>
            <a:ext cx="1920240" cy="310896"/>
          </a:xfrm>
          <a:prstGeom prst="rect">
            <a:avLst/>
          </a:prstGeom>
          <a:noFill/>
          <a:ln/>
        </p:spPr>
        <p:txBody>
          <a:bodyPr wrap="square" lIns="0" tIns="0" rIns="0" bIns="0" rtlCol="0" anchor="ctr"/>
          <a:lstStyle/>
          <a:p>
            <a:pPr indent="0" marL="0">
              <a:buNone/>
            </a:pPr>
            <a:r>
              <a:rPr lang="en-US" sz="1600" b="1" dirty="0">
                <a:solidFill>
                  <a:srgbClr val="0B2E33"/>
                </a:solidFill>
                <a:latin typeface="Calibri" pitchFamily="34" charset="0"/>
                <a:ea typeface="Calibri" pitchFamily="34" charset="-122"/>
                <a:cs typeface="Calibri" pitchFamily="34" charset="-120"/>
              </a:rPr>
              <a:t>Chase notes</a:t>
            </a:r>
            <a:endParaRPr lang="en-US" sz="1600" dirty="0"/>
          </a:p>
        </p:txBody>
      </p:sp>
      <p:sp>
        <p:nvSpPr>
          <p:cNvPr id="19" name="Text 17"/>
          <p:cNvSpPr/>
          <p:nvPr/>
        </p:nvSpPr>
        <p:spPr>
          <a:xfrm>
            <a:off x="6510528" y="3822192"/>
            <a:ext cx="1920240" cy="118872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Ring the floor to find out what each stoppage actually was</a:t>
            </a:r>
            <a:endParaRPr lang="en-US" sz="1200" dirty="0"/>
          </a:p>
        </p:txBody>
      </p:sp>
      <p:sp>
        <p:nvSpPr>
          <p:cNvPr id="20" name="Shape 18"/>
          <p:cNvSpPr/>
          <p:nvPr/>
        </p:nvSpPr>
        <p:spPr>
          <a:xfrm>
            <a:off x="8915400" y="2377440"/>
            <a:ext cx="2468880" cy="2788920"/>
          </a:xfrm>
          <a:prstGeom prst="roundRect">
            <a:avLst>
              <a:gd name="adj" fmla="val 2963"/>
            </a:avLst>
          </a:prstGeom>
          <a:solidFill>
            <a:srgbClr val="F2F7F7"/>
          </a:solidFill>
          <a:ln w="12700">
            <a:solidFill>
              <a:srgbClr val="D9E6E6"/>
            </a:solidFill>
            <a:prstDash val="solid"/>
          </a:ln>
        </p:spPr>
      </p:sp>
      <p:sp>
        <p:nvSpPr>
          <p:cNvPr id="21" name="Shape 19"/>
          <p:cNvSpPr/>
          <p:nvPr/>
        </p:nvSpPr>
        <p:spPr>
          <a:xfrm>
            <a:off x="9208008" y="2697480"/>
            <a:ext cx="512064" cy="512064"/>
          </a:xfrm>
          <a:prstGeom prst="ellipse">
            <a:avLst/>
          </a:prstGeom>
          <a:solidFill>
            <a:srgbClr val="028090"/>
          </a:solidFill>
          <a:ln/>
        </p:spPr>
      </p:sp>
      <p:sp>
        <p:nvSpPr>
          <p:cNvPr id="22" name="Text 20"/>
          <p:cNvSpPr/>
          <p:nvPr/>
        </p:nvSpPr>
        <p:spPr>
          <a:xfrm>
            <a:off x="9208008" y="269748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3" name="Text 21"/>
          <p:cNvSpPr/>
          <p:nvPr/>
        </p:nvSpPr>
        <p:spPr>
          <a:xfrm>
            <a:off x="9208008" y="3429000"/>
            <a:ext cx="1920240" cy="310896"/>
          </a:xfrm>
          <a:prstGeom prst="rect">
            <a:avLst/>
          </a:prstGeom>
          <a:noFill/>
          <a:ln/>
        </p:spPr>
        <p:txBody>
          <a:bodyPr wrap="square" lIns="0" tIns="0" rIns="0" bIns="0" rtlCol="0" anchor="ctr"/>
          <a:lstStyle/>
          <a:p>
            <a:pPr indent="0" marL="0">
              <a:buNone/>
            </a:pPr>
            <a:r>
              <a:rPr lang="en-US" sz="1600" b="1" dirty="0">
                <a:solidFill>
                  <a:srgbClr val="0B2E33"/>
                </a:solidFill>
                <a:latin typeface="Calibri" pitchFamily="34" charset="0"/>
                <a:ea typeface="Calibri" pitchFamily="34" charset="-122"/>
                <a:cs typeface="Calibri" pitchFamily="34" charset="-120"/>
              </a:rPr>
              <a:t>Check stock</a:t>
            </a:r>
            <a:endParaRPr lang="en-US" sz="1600" dirty="0"/>
          </a:p>
        </p:txBody>
      </p:sp>
      <p:sp>
        <p:nvSpPr>
          <p:cNvPr id="24" name="Text 22"/>
          <p:cNvSpPr/>
          <p:nvPr/>
        </p:nvSpPr>
        <p:spPr>
          <a:xfrm>
            <a:off x="9208008" y="3822192"/>
            <a:ext cx="1920240" cy="118872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Compare on hand against reorder points, part by part</a:t>
            </a:r>
            <a:endParaRPr lang="en-US" sz="1200" dirty="0"/>
          </a:p>
        </p:txBody>
      </p:sp>
      <p:sp>
        <p:nvSpPr>
          <p:cNvPr id="25" name="Text 23"/>
          <p:cNvSpPr/>
          <p:nvPr/>
        </p:nvSpPr>
        <p:spPr>
          <a:xfrm>
            <a:off x="822960" y="5715000"/>
            <a:ext cx="100584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And that is before anyone has decided what to actually do about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694944"/>
            <a:ext cx="109728" cy="109728"/>
          </a:xfrm>
          <a:prstGeom prst="ellipse">
            <a:avLst/>
          </a:prstGeom>
          <a:solidFill>
            <a:srgbClr val="02C39A"/>
          </a:solidFill>
          <a:ln/>
        </p:spPr>
      </p:sp>
      <p:sp>
        <p:nvSpPr>
          <p:cNvPr id="3" name="Text 1"/>
          <p:cNvSpPr/>
          <p:nvPr/>
        </p:nvSpPr>
        <p:spPr>
          <a:xfrm>
            <a:off x="1042416" y="640080"/>
            <a:ext cx="5486400" cy="237744"/>
          </a:xfrm>
          <a:prstGeom prst="rect">
            <a:avLst/>
          </a:prstGeom>
          <a:noFill/>
          <a:ln/>
        </p:spPr>
        <p:txBody>
          <a:bodyPr wrap="square" lIns="0" tIns="0" rIns="0" bIns="0" rtlCol="0" anchor="ctr"/>
          <a:lstStyle/>
          <a:p>
            <a:pPr indent="0" marL="0">
              <a:buNone/>
            </a:pPr>
            <a:r>
              <a:rPr lang="en-US" sz="1100" b="1" spc="200" kern="0" dirty="0">
                <a:solidFill>
                  <a:srgbClr val="4A6B70"/>
                </a:solidFill>
                <a:latin typeface="Calibri" pitchFamily="34" charset="0"/>
                <a:ea typeface="Calibri" pitchFamily="34" charset="-122"/>
                <a:cs typeface="Calibri" pitchFamily="34" charset="-120"/>
              </a:rPr>
              <a:t>WHAT IT DOES</a:t>
            </a:r>
            <a:endParaRPr lang="en-US" sz="1100" dirty="0"/>
          </a:p>
        </p:txBody>
      </p:sp>
      <p:sp>
        <p:nvSpPr>
          <p:cNvPr id="4" name="Text 2"/>
          <p:cNvSpPr/>
          <p:nvPr/>
        </p:nvSpPr>
        <p:spPr>
          <a:xfrm>
            <a:off x="822960" y="1005840"/>
            <a:ext cx="10424160" cy="731520"/>
          </a:xfrm>
          <a:prstGeom prst="rect">
            <a:avLst/>
          </a:prstGeom>
          <a:noFill/>
          <a:ln/>
        </p:spPr>
        <p:txBody>
          <a:bodyPr wrap="square" lIns="0" tIns="0" rIns="0" bIns="0" rtlCol="0" anchor="ctr"/>
          <a:lstStyle/>
          <a:p>
            <a:pPr indent="0" marL="0">
              <a:buNone/>
            </a:pPr>
            <a:r>
              <a:rPr lang="en-US" sz="3800" b="1" dirty="0">
                <a:solidFill>
                  <a:srgbClr val="0B2E33"/>
                </a:solidFill>
                <a:latin typeface="Cambria" pitchFamily="34" charset="0"/>
                <a:ea typeface="Cambria" pitchFamily="34" charset="-122"/>
                <a:cs typeface="Cambria" pitchFamily="34" charset="-120"/>
              </a:rPr>
              <a:t>Four jobs, one window</a:t>
            </a:r>
            <a:endParaRPr lang="en-US" sz="3800" dirty="0"/>
          </a:p>
        </p:txBody>
      </p:sp>
      <p:sp>
        <p:nvSpPr>
          <p:cNvPr id="5" name="Shape 3"/>
          <p:cNvSpPr/>
          <p:nvPr/>
        </p:nvSpPr>
        <p:spPr>
          <a:xfrm>
            <a:off x="822960" y="2148840"/>
            <a:ext cx="5029200" cy="2011680"/>
          </a:xfrm>
          <a:prstGeom prst="roundRect">
            <a:avLst>
              <a:gd name="adj" fmla="val 3636"/>
            </a:avLst>
          </a:prstGeom>
          <a:solidFill>
            <a:srgbClr val="F2F7F7"/>
          </a:solidFill>
          <a:ln w="12700">
            <a:solidFill>
              <a:srgbClr val="D9E6E6"/>
            </a:solidFill>
            <a:prstDash val="solid"/>
          </a:ln>
        </p:spPr>
      </p:sp>
      <p:sp>
        <p:nvSpPr>
          <p:cNvPr id="6" name="Shape 4"/>
          <p:cNvSpPr/>
          <p:nvPr/>
        </p:nvSpPr>
        <p:spPr>
          <a:xfrm>
            <a:off x="1097280" y="2423160"/>
            <a:ext cx="310896" cy="310896"/>
          </a:xfrm>
          <a:prstGeom prst="ellipse">
            <a:avLst/>
          </a:prstGeom>
          <a:solidFill>
            <a:srgbClr val="00A896"/>
          </a:solidFill>
          <a:ln/>
        </p:spPr>
      </p:sp>
      <p:sp>
        <p:nvSpPr>
          <p:cNvPr id="7" name="Text 5"/>
          <p:cNvSpPr/>
          <p:nvPr/>
        </p:nvSpPr>
        <p:spPr>
          <a:xfrm>
            <a:off x="1554480" y="2404872"/>
            <a:ext cx="4023360" cy="347472"/>
          </a:xfrm>
          <a:prstGeom prst="rect">
            <a:avLst/>
          </a:prstGeom>
          <a:noFill/>
          <a:ln/>
        </p:spPr>
        <p:txBody>
          <a:bodyPr wrap="square" lIns="0" tIns="0" rIns="0" bIns="0" rtlCol="0" anchor="ctr"/>
          <a:lstStyle/>
          <a:p>
            <a:pPr indent="0" marL="0">
              <a:buNone/>
            </a:pPr>
            <a:r>
              <a:rPr lang="en-US" sz="1700" b="1" dirty="0">
                <a:solidFill>
                  <a:srgbClr val="0B2E33"/>
                </a:solidFill>
                <a:latin typeface="Calibri" pitchFamily="34" charset="0"/>
                <a:ea typeface="Calibri" pitchFamily="34" charset="-122"/>
                <a:cs typeface="Calibri" pitchFamily="34" charset="-120"/>
              </a:rPr>
              <a:t>Daily briefing</a:t>
            </a:r>
            <a:endParaRPr lang="en-US" sz="1700" dirty="0"/>
          </a:p>
        </p:txBody>
      </p:sp>
      <p:sp>
        <p:nvSpPr>
          <p:cNvPr id="8" name="Text 6"/>
          <p:cNvSpPr/>
          <p:nvPr/>
        </p:nvSpPr>
        <p:spPr>
          <a:xfrm>
            <a:off x="1097280" y="2880360"/>
            <a:ext cx="4480560" cy="114300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OEE, scrap, downtime and materials written up as a headline, a short narrative and ranked callouts. The full report opens in one click and exports to PDF, Excel or MIS.</a:t>
            </a:r>
            <a:endParaRPr lang="en-US" sz="1200" dirty="0"/>
          </a:p>
        </p:txBody>
      </p:sp>
      <p:sp>
        <p:nvSpPr>
          <p:cNvPr id="9" name="Shape 7"/>
          <p:cNvSpPr/>
          <p:nvPr/>
        </p:nvSpPr>
        <p:spPr>
          <a:xfrm>
            <a:off x="6217920" y="2148840"/>
            <a:ext cx="5029200" cy="2011680"/>
          </a:xfrm>
          <a:prstGeom prst="roundRect">
            <a:avLst>
              <a:gd name="adj" fmla="val 3636"/>
            </a:avLst>
          </a:prstGeom>
          <a:solidFill>
            <a:srgbClr val="F2F7F7"/>
          </a:solidFill>
          <a:ln w="12700">
            <a:solidFill>
              <a:srgbClr val="D9E6E6"/>
            </a:solidFill>
            <a:prstDash val="solid"/>
          </a:ln>
        </p:spPr>
      </p:sp>
      <p:sp>
        <p:nvSpPr>
          <p:cNvPr id="10" name="Shape 8"/>
          <p:cNvSpPr/>
          <p:nvPr/>
        </p:nvSpPr>
        <p:spPr>
          <a:xfrm>
            <a:off x="6492240" y="2423160"/>
            <a:ext cx="310896" cy="310896"/>
          </a:xfrm>
          <a:prstGeom prst="ellipse">
            <a:avLst/>
          </a:prstGeom>
          <a:solidFill>
            <a:srgbClr val="00A896"/>
          </a:solidFill>
          <a:ln/>
        </p:spPr>
      </p:sp>
      <p:sp>
        <p:nvSpPr>
          <p:cNvPr id="11" name="Text 9"/>
          <p:cNvSpPr/>
          <p:nvPr/>
        </p:nvSpPr>
        <p:spPr>
          <a:xfrm>
            <a:off x="6949440" y="2404872"/>
            <a:ext cx="4023360" cy="347472"/>
          </a:xfrm>
          <a:prstGeom prst="rect">
            <a:avLst/>
          </a:prstGeom>
          <a:noFill/>
          <a:ln/>
        </p:spPr>
        <p:txBody>
          <a:bodyPr wrap="square" lIns="0" tIns="0" rIns="0" bIns="0" rtlCol="0" anchor="ctr"/>
          <a:lstStyle/>
          <a:p>
            <a:pPr indent="0" marL="0">
              <a:buNone/>
            </a:pPr>
            <a:r>
              <a:rPr lang="en-US" sz="1700" b="1" dirty="0">
                <a:solidFill>
                  <a:srgbClr val="0B2E33"/>
                </a:solidFill>
                <a:latin typeface="Calibri" pitchFamily="34" charset="0"/>
                <a:ea typeface="Calibri" pitchFamily="34" charset="-122"/>
                <a:cs typeface="Calibri" pitchFamily="34" charset="-120"/>
              </a:rPr>
              <a:t>Root cause</a:t>
            </a:r>
            <a:endParaRPr lang="en-US" sz="1700" dirty="0"/>
          </a:p>
        </p:txBody>
      </p:sp>
      <p:sp>
        <p:nvSpPr>
          <p:cNvPr id="12" name="Text 10"/>
          <p:cNvSpPr/>
          <p:nvPr/>
        </p:nvSpPr>
        <p:spPr>
          <a:xfrm>
            <a:off x="6492240" y="2880360"/>
            <a:ext cx="4480560" cy="114300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Click any stoppage. Evidence is correlated first: recurrence on that machine, what else happened nearby, output that day, parts below reorder. Then the causes are ranked, each citing a procedure.</a:t>
            </a:r>
            <a:endParaRPr lang="en-US" sz="1200" dirty="0"/>
          </a:p>
        </p:txBody>
      </p:sp>
      <p:sp>
        <p:nvSpPr>
          <p:cNvPr id="13" name="Shape 11"/>
          <p:cNvSpPr/>
          <p:nvPr/>
        </p:nvSpPr>
        <p:spPr>
          <a:xfrm>
            <a:off x="822960" y="4389120"/>
            <a:ext cx="5029200" cy="2011680"/>
          </a:xfrm>
          <a:prstGeom prst="roundRect">
            <a:avLst>
              <a:gd name="adj" fmla="val 3636"/>
            </a:avLst>
          </a:prstGeom>
          <a:solidFill>
            <a:srgbClr val="F2F7F7"/>
          </a:solidFill>
          <a:ln w="12700">
            <a:solidFill>
              <a:srgbClr val="D9E6E6"/>
            </a:solidFill>
            <a:prstDash val="solid"/>
          </a:ln>
        </p:spPr>
      </p:sp>
      <p:sp>
        <p:nvSpPr>
          <p:cNvPr id="14" name="Shape 12"/>
          <p:cNvSpPr/>
          <p:nvPr/>
        </p:nvSpPr>
        <p:spPr>
          <a:xfrm>
            <a:off x="1097280" y="4663440"/>
            <a:ext cx="310896" cy="310896"/>
          </a:xfrm>
          <a:prstGeom prst="ellipse">
            <a:avLst/>
          </a:prstGeom>
          <a:solidFill>
            <a:srgbClr val="00A896"/>
          </a:solidFill>
          <a:ln/>
        </p:spPr>
      </p:sp>
      <p:sp>
        <p:nvSpPr>
          <p:cNvPr id="15" name="Text 13"/>
          <p:cNvSpPr/>
          <p:nvPr/>
        </p:nvSpPr>
        <p:spPr>
          <a:xfrm>
            <a:off x="1554480" y="4645152"/>
            <a:ext cx="4023360" cy="347472"/>
          </a:xfrm>
          <a:prstGeom prst="rect">
            <a:avLst/>
          </a:prstGeom>
          <a:noFill/>
          <a:ln/>
        </p:spPr>
        <p:txBody>
          <a:bodyPr wrap="square" lIns="0" tIns="0" rIns="0" bIns="0" rtlCol="0" anchor="ctr"/>
          <a:lstStyle/>
          <a:p>
            <a:pPr indent="0" marL="0">
              <a:buNone/>
            </a:pPr>
            <a:r>
              <a:rPr lang="en-US" sz="1700" b="1" dirty="0">
                <a:solidFill>
                  <a:srgbClr val="0B2E33"/>
                </a:solidFill>
                <a:latin typeface="Calibri" pitchFamily="34" charset="0"/>
                <a:ea typeface="Calibri" pitchFamily="34" charset="-122"/>
                <a:cs typeface="Calibri" pitchFamily="34" charset="-120"/>
              </a:rPr>
              <a:t>Ask the manuals</a:t>
            </a:r>
            <a:endParaRPr lang="en-US" sz="1700" dirty="0"/>
          </a:p>
        </p:txBody>
      </p:sp>
      <p:sp>
        <p:nvSpPr>
          <p:cNvPr id="16" name="Text 14"/>
          <p:cNvSpPr/>
          <p:nvPr/>
        </p:nvSpPr>
        <p:spPr>
          <a:xfrm>
            <a:off x="1097280" y="5120640"/>
            <a:ext cx="4480560" cy="114300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Fifteen SOPs and anything you upload. Ask in the words people actually use, abbreviations and typos included, and get the exact section back.</a:t>
            </a:r>
            <a:endParaRPr lang="en-US" sz="1200" dirty="0"/>
          </a:p>
        </p:txBody>
      </p:sp>
      <p:sp>
        <p:nvSpPr>
          <p:cNvPr id="17" name="Shape 15"/>
          <p:cNvSpPr/>
          <p:nvPr/>
        </p:nvSpPr>
        <p:spPr>
          <a:xfrm>
            <a:off x="6217920" y="4389120"/>
            <a:ext cx="5029200" cy="2011680"/>
          </a:xfrm>
          <a:prstGeom prst="roundRect">
            <a:avLst>
              <a:gd name="adj" fmla="val 3636"/>
            </a:avLst>
          </a:prstGeom>
          <a:solidFill>
            <a:srgbClr val="F2F7F7"/>
          </a:solidFill>
          <a:ln w="12700">
            <a:solidFill>
              <a:srgbClr val="D9E6E6"/>
            </a:solidFill>
            <a:prstDash val="solid"/>
          </a:ln>
        </p:spPr>
      </p:sp>
      <p:sp>
        <p:nvSpPr>
          <p:cNvPr id="18" name="Shape 16"/>
          <p:cNvSpPr/>
          <p:nvPr/>
        </p:nvSpPr>
        <p:spPr>
          <a:xfrm>
            <a:off x="6492240" y="4663440"/>
            <a:ext cx="310896" cy="310896"/>
          </a:xfrm>
          <a:prstGeom prst="ellipse">
            <a:avLst/>
          </a:prstGeom>
          <a:solidFill>
            <a:srgbClr val="00A896"/>
          </a:solidFill>
          <a:ln/>
        </p:spPr>
      </p:sp>
      <p:sp>
        <p:nvSpPr>
          <p:cNvPr id="19" name="Text 17"/>
          <p:cNvSpPr/>
          <p:nvPr/>
        </p:nvSpPr>
        <p:spPr>
          <a:xfrm>
            <a:off x="6949440" y="4645152"/>
            <a:ext cx="4023360" cy="347472"/>
          </a:xfrm>
          <a:prstGeom prst="rect">
            <a:avLst/>
          </a:prstGeom>
          <a:noFill/>
          <a:ln/>
        </p:spPr>
        <p:txBody>
          <a:bodyPr wrap="square" lIns="0" tIns="0" rIns="0" bIns="0" rtlCol="0" anchor="ctr"/>
          <a:lstStyle/>
          <a:p>
            <a:pPr indent="0" marL="0">
              <a:buNone/>
            </a:pPr>
            <a:r>
              <a:rPr lang="en-US" sz="1700" b="1" dirty="0">
                <a:solidFill>
                  <a:srgbClr val="0B2E33"/>
                </a:solidFill>
                <a:latin typeface="Calibri" pitchFamily="34" charset="0"/>
                <a:ea typeface="Calibri" pitchFamily="34" charset="-122"/>
                <a:cs typeface="Calibri" pitchFamily="34" charset="-120"/>
              </a:rPr>
              <a:t>Any day, any document</a:t>
            </a:r>
            <a:endParaRPr lang="en-US" sz="1700" dirty="0"/>
          </a:p>
        </p:txBody>
      </p:sp>
      <p:sp>
        <p:nvSpPr>
          <p:cNvPr id="20" name="Text 18"/>
          <p:cNvSpPr/>
          <p:nvPr/>
        </p:nvSpPr>
        <p:spPr>
          <a:xfrm>
            <a:off x="6492240" y="5120640"/>
            <a:ext cx="4480560" cy="1143000"/>
          </a:xfrm>
          <a:prstGeom prst="rect">
            <a:avLst/>
          </a:prstGeom>
          <a:noFill/>
          <a:ln/>
        </p:spPr>
        <p:txBody>
          <a:bodyPr wrap="square" lIns="0" tIns="0" rIns="0" bIns="0" rtlCol="0" anchor="ctr"/>
          <a:lstStyle/>
          <a:p>
            <a:pPr indent="0" marL="0">
              <a:lnSpc>
                <a:spcPts val="1700"/>
              </a:lnSpc>
              <a:buNone/>
            </a:pPr>
            <a:r>
              <a:rPr lang="en-US" sz="1200" dirty="0">
                <a:solidFill>
                  <a:srgbClr val="4A6B70"/>
                </a:solidFill>
                <a:latin typeface="Calibri" pitchFamily="34" charset="0"/>
                <a:ea typeface="Calibri" pitchFamily="34" charset="-122"/>
                <a:cs typeface="Calibri" pitchFamily="34" charset="-120"/>
              </a:rPr>
              <a:t>Thirty days of history behind a calendar. Drop in a PDF or Word manual and it is searchable seconds later.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822960" y="694944"/>
            <a:ext cx="109728" cy="109728"/>
          </a:xfrm>
          <a:prstGeom prst="ellipse">
            <a:avLst/>
          </a:prstGeom>
          <a:solidFill>
            <a:srgbClr val="02C39A"/>
          </a:solidFill>
          <a:ln/>
        </p:spPr>
      </p:sp>
      <p:sp>
        <p:nvSpPr>
          <p:cNvPr id="3" name="Text 1"/>
          <p:cNvSpPr/>
          <p:nvPr/>
        </p:nvSpPr>
        <p:spPr>
          <a:xfrm>
            <a:off x="1042416" y="640080"/>
            <a:ext cx="54864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THE DESIGN DECISION THAT MATTERS</a:t>
            </a:r>
            <a:endParaRPr lang="en-US" sz="1100" dirty="0"/>
          </a:p>
        </p:txBody>
      </p:sp>
      <p:sp>
        <p:nvSpPr>
          <p:cNvPr id="4" name="Text 2"/>
          <p:cNvSpPr/>
          <p:nvPr/>
        </p:nvSpPr>
        <p:spPr>
          <a:xfrm>
            <a:off x="822960" y="1051560"/>
            <a:ext cx="1042416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model never does arithmetic</a:t>
            </a:r>
            <a:endParaRPr lang="en-US" sz="4000" dirty="0"/>
          </a:p>
        </p:txBody>
      </p:sp>
      <p:sp>
        <p:nvSpPr>
          <p:cNvPr id="5" name="Text 3"/>
          <p:cNvSpPr/>
          <p:nvPr/>
        </p:nvSpPr>
        <p:spPr>
          <a:xfrm>
            <a:off x="822960" y="1965960"/>
            <a:ext cx="7680960" cy="1005840"/>
          </a:xfrm>
          <a:prstGeom prst="rect">
            <a:avLst/>
          </a:prstGeom>
          <a:noFill/>
          <a:ln/>
        </p:spPr>
        <p:txBody>
          <a:bodyPr wrap="square" lIns="0" tIns="0" rIns="0" bIns="0" rtlCol="0" anchor="ctr"/>
          <a:lstStyle/>
          <a:p>
            <a:pPr indent="0" marL="0">
              <a:lnSpc>
                <a:spcPts val="2200"/>
              </a:lnSpc>
              <a:buNone/>
            </a:pPr>
            <a:r>
              <a:rPr lang="en-US" sz="1450" dirty="0">
                <a:solidFill>
                  <a:srgbClr val="B8D4D4"/>
                </a:solidFill>
                <a:latin typeface="Calibri" pitchFamily="34" charset="0"/>
                <a:ea typeface="Calibri" pitchFamily="34" charset="-122"/>
                <a:cs typeface="Calibri" pitchFamily="34" charset="-120"/>
              </a:rPr>
              <a:t>Every OEE, scrap rate, downtime total and days of cover is computed in pandas. The language model receives finished numbers and writes the sentences around them. It is never asked to produce a figure, so it cannot invent one.</a:t>
            </a:r>
            <a:endParaRPr lang="en-US" sz="1450" dirty="0"/>
          </a:p>
        </p:txBody>
      </p:sp>
      <p:sp>
        <p:nvSpPr>
          <p:cNvPr id="6" name="Shape 4"/>
          <p:cNvSpPr/>
          <p:nvPr/>
        </p:nvSpPr>
        <p:spPr>
          <a:xfrm>
            <a:off x="822960" y="3703320"/>
            <a:ext cx="2743200" cy="960120"/>
          </a:xfrm>
          <a:prstGeom prst="roundRect">
            <a:avLst>
              <a:gd name="adj" fmla="val 7619"/>
            </a:avLst>
          </a:prstGeom>
          <a:solidFill>
            <a:srgbClr val="028090"/>
          </a:solidFill>
          <a:ln/>
        </p:spPr>
      </p:sp>
      <p:sp>
        <p:nvSpPr>
          <p:cNvPr id="7" name="Text 5"/>
          <p:cNvSpPr/>
          <p:nvPr/>
        </p:nvSpPr>
        <p:spPr>
          <a:xfrm>
            <a:off x="822960" y="3703320"/>
            <a:ext cx="2743200" cy="9601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Machine data</a:t>
            </a:r>
            <a:endParaRPr lang="en-US" sz="1500" dirty="0"/>
          </a:p>
        </p:txBody>
      </p:sp>
      <p:sp>
        <p:nvSpPr>
          <p:cNvPr id="8" name="Text 6"/>
          <p:cNvSpPr/>
          <p:nvPr/>
        </p:nvSpPr>
        <p:spPr>
          <a:xfrm>
            <a:off x="3611880" y="3703320"/>
            <a:ext cx="457200" cy="960120"/>
          </a:xfrm>
          <a:prstGeom prst="rect">
            <a:avLst/>
          </a:prstGeom>
          <a:noFill/>
          <a:ln/>
        </p:spPr>
        <p:txBody>
          <a:bodyPr wrap="square" lIns="0" tIns="0" rIns="0" bIns="0" rtlCol="0" anchor="ctr"/>
          <a:lstStyle/>
          <a:p>
            <a:pPr algn="ctr" indent="0" marL="0">
              <a:buNone/>
            </a:pPr>
            <a:r>
              <a:rPr lang="en-US" sz="2000" dirty="0">
                <a:solidFill>
                  <a:srgbClr val="00A896"/>
                </a:solidFill>
                <a:latin typeface="Calibri" pitchFamily="34" charset="0"/>
                <a:ea typeface="Calibri" pitchFamily="34" charset="-122"/>
                <a:cs typeface="Calibri" pitchFamily="34" charset="-120"/>
              </a:rPr>
              <a:t>&gt;</a:t>
            </a:r>
            <a:endParaRPr lang="en-US" sz="2000" dirty="0"/>
          </a:p>
        </p:txBody>
      </p:sp>
      <p:sp>
        <p:nvSpPr>
          <p:cNvPr id="9" name="Shape 7"/>
          <p:cNvSpPr/>
          <p:nvPr/>
        </p:nvSpPr>
        <p:spPr>
          <a:xfrm>
            <a:off x="4114800" y="3703320"/>
            <a:ext cx="2743200" cy="960120"/>
          </a:xfrm>
          <a:prstGeom prst="roundRect">
            <a:avLst>
              <a:gd name="adj" fmla="val 7619"/>
            </a:avLst>
          </a:prstGeom>
          <a:solidFill>
            <a:srgbClr val="00A896"/>
          </a:solidFill>
          <a:ln/>
        </p:spPr>
      </p:sp>
      <p:sp>
        <p:nvSpPr>
          <p:cNvPr id="10" name="Text 8"/>
          <p:cNvSpPr/>
          <p:nvPr/>
        </p:nvSpPr>
        <p:spPr>
          <a:xfrm>
            <a:off x="4114800" y="3703320"/>
            <a:ext cx="2743200" cy="9601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pandas computes</a:t>
            </a:r>
            <a:endParaRPr lang="en-US" sz="1500" dirty="0"/>
          </a:p>
        </p:txBody>
      </p:sp>
      <p:sp>
        <p:nvSpPr>
          <p:cNvPr id="11" name="Text 9"/>
          <p:cNvSpPr/>
          <p:nvPr/>
        </p:nvSpPr>
        <p:spPr>
          <a:xfrm>
            <a:off x="6903720" y="3703320"/>
            <a:ext cx="457200" cy="960120"/>
          </a:xfrm>
          <a:prstGeom prst="rect">
            <a:avLst/>
          </a:prstGeom>
          <a:noFill/>
          <a:ln/>
        </p:spPr>
        <p:txBody>
          <a:bodyPr wrap="square" lIns="0" tIns="0" rIns="0" bIns="0" rtlCol="0" anchor="ctr"/>
          <a:lstStyle/>
          <a:p>
            <a:pPr algn="ctr" indent="0" marL="0">
              <a:buNone/>
            </a:pPr>
            <a:r>
              <a:rPr lang="en-US" sz="2000" dirty="0">
                <a:solidFill>
                  <a:srgbClr val="00A896"/>
                </a:solidFill>
                <a:latin typeface="Calibri" pitchFamily="34" charset="0"/>
                <a:ea typeface="Calibri" pitchFamily="34" charset="-122"/>
                <a:cs typeface="Calibri" pitchFamily="34" charset="-120"/>
              </a:rPr>
              <a:t>&gt;</a:t>
            </a:r>
            <a:endParaRPr lang="en-US" sz="2000" dirty="0"/>
          </a:p>
        </p:txBody>
      </p:sp>
      <p:sp>
        <p:nvSpPr>
          <p:cNvPr id="12" name="Shape 10"/>
          <p:cNvSpPr/>
          <p:nvPr/>
        </p:nvSpPr>
        <p:spPr>
          <a:xfrm>
            <a:off x="7406640" y="3703320"/>
            <a:ext cx="2743200" cy="960120"/>
          </a:xfrm>
          <a:prstGeom prst="roundRect">
            <a:avLst>
              <a:gd name="adj" fmla="val 7619"/>
            </a:avLst>
          </a:prstGeom>
          <a:solidFill>
            <a:srgbClr val="02C39A"/>
          </a:solidFill>
          <a:ln/>
        </p:spPr>
      </p:sp>
      <p:sp>
        <p:nvSpPr>
          <p:cNvPr id="13" name="Text 11"/>
          <p:cNvSpPr/>
          <p:nvPr/>
        </p:nvSpPr>
        <p:spPr>
          <a:xfrm>
            <a:off x="7406640" y="3703320"/>
            <a:ext cx="2743200" cy="9601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model narrates</a:t>
            </a:r>
            <a:endParaRPr lang="en-US" sz="1500" dirty="0"/>
          </a:p>
        </p:txBody>
      </p:sp>
      <p:sp>
        <p:nvSpPr>
          <p:cNvPr id="14" name="Text 12"/>
          <p:cNvSpPr/>
          <p:nvPr/>
        </p:nvSpPr>
        <p:spPr>
          <a:xfrm>
            <a:off x="822960" y="5257800"/>
            <a:ext cx="9875520" cy="822960"/>
          </a:xfrm>
          <a:prstGeom prst="rect">
            <a:avLst/>
          </a:prstGeom>
          <a:noFill/>
          <a:ln/>
        </p:spPr>
        <p:txBody>
          <a:bodyPr wrap="square" lIns="0" tIns="0" rIns="0" bIns="0" rtlCol="0" anchor="ctr"/>
          <a:lstStyle/>
          <a:p>
            <a:pPr indent="0" marL="0">
              <a:lnSpc>
                <a:spcPts val="2200"/>
              </a:lnSpc>
              <a:buNone/>
            </a:pPr>
            <a:r>
              <a:rPr lang="en-US" sz="1500" i="1" dirty="0">
                <a:solidFill>
                  <a:srgbClr val="02C39A"/>
                </a:solidFill>
                <a:latin typeface="Calibri" pitchFamily="34" charset="0"/>
                <a:ea typeface="Calibri" pitchFamily="34" charset="-122"/>
                <a:cs typeface="Calibri" pitchFamily="34" charset="-120"/>
              </a:rPr>
              <a:t>A wrong OEE figure in front of a manufacturing audience ends the conversation. This is why that cannot happen.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694944"/>
            <a:ext cx="109728" cy="109728"/>
          </a:xfrm>
          <a:prstGeom prst="ellipse">
            <a:avLst/>
          </a:prstGeom>
          <a:solidFill>
            <a:srgbClr val="02C39A"/>
          </a:solidFill>
          <a:ln/>
        </p:spPr>
      </p:sp>
      <p:sp>
        <p:nvSpPr>
          <p:cNvPr id="3" name="Text 1"/>
          <p:cNvSpPr/>
          <p:nvPr/>
        </p:nvSpPr>
        <p:spPr>
          <a:xfrm>
            <a:off x="1042416" y="640080"/>
            <a:ext cx="5486400" cy="237744"/>
          </a:xfrm>
          <a:prstGeom prst="rect">
            <a:avLst/>
          </a:prstGeom>
          <a:noFill/>
          <a:ln/>
        </p:spPr>
        <p:txBody>
          <a:bodyPr wrap="square" lIns="0" tIns="0" rIns="0" bIns="0" rtlCol="0" anchor="ctr"/>
          <a:lstStyle/>
          <a:p>
            <a:pPr indent="0" marL="0">
              <a:buNone/>
            </a:pPr>
            <a:r>
              <a:rPr lang="en-US" sz="1100" b="1" spc="200" kern="0" dirty="0">
                <a:solidFill>
                  <a:srgbClr val="4A6B70"/>
                </a:solidFill>
                <a:latin typeface="Calibri" pitchFamily="34" charset="0"/>
                <a:ea typeface="Calibri" pitchFamily="34" charset="-122"/>
                <a:cs typeface="Calibri" pitchFamily="34" charset="-120"/>
              </a:rPr>
              <a:t>KNOWING WHEN TO SAY NO</a:t>
            </a:r>
            <a:endParaRPr lang="en-US" sz="1100" dirty="0"/>
          </a:p>
        </p:txBody>
      </p:sp>
      <p:sp>
        <p:nvSpPr>
          <p:cNvPr id="4" name="Text 2"/>
          <p:cNvSpPr/>
          <p:nvPr/>
        </p:nvSpPr>
        <p:spPr>
          <a:xfrm>
            <a:off x="822960" y="1005840"/>
            <a:ext cx="10424160" cy="731520"/>
          </a:xfrm>
          <a:prstGeom prst="rect">
            <a:avLst/>
          </a:prstGeom>
          <a:noFill/>
          <a:ln/>
        </p:spPr>
        <p:txBody>
          <a:bodyPr wrap="square" lIns="0" tIns="0" rIns="0" bIns="0" rtlCol="0" anchor="ctr"/>
          <a:lstStyle/>
          <a:p>
            <a:pPr indent="0" marL="0">
              <a:buNone/>
            </a:pPr>
            <a:r>
              <a:rPr lang="en-US" sz="3800" b="1" dirty="0">
                <a:solidFill>
                  <a:srgbClr val="0B2E33"/>
                </a:solidFill>
                <a:latin typeface="Cambria" pitchFamily="34" charset="0"/>
                <a:ea typeface="Cambria" pitchFamily="34" charset="-122"/>
                <a:cs typeface="Cambria" pitchFamily="34" charset="-120"/>
              </a:rPr>
              <a:t>It refuses, on purpose</a:t>
            </a:r>
            <a:endParaRPr lang="en-US" sz="3800" dirty="0"/>
          </a:p>
        </p:txBody>
      </p:sp>
      <p:sp>
        <p:nvSpPr>
          <p:cNvPr id="5" name="Shape 3"/>
          <p:cNvSpPr/>
          <p:nvPr/>
        </p:nvSpPr>
        <p:spPr>
          <a:xfrm>
            <a:off x="822960" y="2057400"/>
            <a:ext cx="10515600" cy="841248"/>
          </a:xfrm>
          <a:prstGeom prst="roundRect">
            <a:avLst>
              <a:gd name="adj" fmla="val 8696"/>
            </a:avLst>
          </a:prstGeom>
          <a:solidFill>
            <a:srgbClr val="F2F7F7"/>
          </a:solidFill>
          <a:ln w="12700">
            <a:solidFill>
              <a:srgbClr val="D9E6E6"/>
            </a:solidFill>
            <a:prstDash val="solid"/>
          </a:ln>
        </p:spPr>
      </p:sp>
      <p:sp>
        <p:nvSpPr>
          <p:cNvPr id="6" name="Shape 4"/>
          <p:cNvSpPr/>
          <p:nvPr/>
        </p:nvSpPr>
        <p:spPr>
          <a:xfrm>
            <a:off x="1097280" y="2404872"/>
            <a:ext cx="146304" cy="146304"/>
          </a:xfrm>
          <a:prstGeom prst="ellipse">
            <a:avLst/>
          </a:prstGeom>
          <a:solidFill>
            <a:srgbClr val="02C39A"/>
          </a:solidFill>
          <a:ln/>
        </p:spPr>
      </p:sp>
      <p:sp>
        <p:nvSpPr>
          <p:cNvPr id="7" name="Text 5"/>
          <p:cNvSpPr/>
          <p:nvPr/>
        </p:nvSpPr>
        <p:spPr>
          <a:xfrm>
            <a:off x="1417320" y="2057400"/>
            <a:ext cx="3931920" cy="841248"/>
          </a:xfrm>
          <a:prstGeom prst="rect">
            <a:avLst/>
          </a:prstGeom>
          <a:noFill/>
          <a:ln/>
        </p:spPr>
        <p:txBody>
          <a:bodyPr wrap="square" lIns="0" tIns="0" rIns="0" bIns="0"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"What was yesterday's OEE?"</a:t>
            </a:r>
            <a:endParaRPr lang="en-US" sz="1400" dirty="0"/>
          </a:p>
        </p:txBody>
      </p:sp>
      <p:sp>
        <p:nvSpPr>
          <p:cNvPr id="8" name="Text 6"/>
          <p:cNvSpPr/>
          <p:nvPr/>
        </p:nvSpPr>
        <p:spPr>
          <a:xfrm>
            <a:off x="5486400" y="2057400"/>
            <a:ext cx="5669280" cy="841248"/>
          </a:xfrm>
          <a:prstGeom prst="rect">
            <a:avLst/>
          </a:prstGeom>
          <a:noFill/>
          <a:ln/>
        </p:spPr>
        <p:txBody>
          <a:bodyPr wrap="square" lIns="0" tIns="0" rIns="0" bIns="0" rtlCol="0" anchor="ctr"/>
          <a:lstStyle/>
          <a:p>
            <a:pPr indent="0" marL="0">
              <a:lnSpc>
                <a:spcPts val="1500"/>
              </a:lnSpc>
              <a:buNone/>
            </a:pPr>
            <a:r>
              <a:rPr lang="en-US" sz="1200" dirty="0">
                <a:solidFill>
                  <a:srgbClr val="4A6B70"/>
                </a:solidFill>
                <a:latin typeface="Calibri" pitchFamily="34" charset="0"/>
                <a:ea typeface="Calibri" pitchFamily="34" charset="-122"/>
                <a:cs typeface="Calibri" pitchFamily="34" charset="-120"/>
              </a:rPr>
              <a:t>Answered from the data, with the date it belongs to and a button that moves the dashboard there.</a:t>
            </a:r>
            <a:endParaRPr lang="en-US" sz="1200" dirty="0"/>
          </a:p>
        </p:txBody>
      </p:sp>
      <p:sp>
        <p:nvSpPr>
          <p:cNvPr id="9" name="Shape 7"/>
          <p:cNvSpPr/>
          <p:nvPr/>
        </p:nvSpPr>
        <p:spPr>
          <a:xfrm>
            <a:off x="822960" y="3044952"/>
            <a:ext cx="10515600" cy="841248"/>
          </a:xfrm>
          <a:prstGeom prst="roundRect">
            <a:avLst>
              <a:gd name="adj" fmla="val 8696"/>
            </a:avLst>
          </a:prstGeom>
          <a:solidFill>
            <a:srgbClr val="F2F7F7"/>
          </a:solidFill>
          <a:ln w="12700">
            <a:solidFill>
              <a:srgbClr val="D9E6E6"/>
            </a:solidFill>
            <a:prstDash val="solid"/>
          </a:ln>
        </p:spPr>
      </p:sp>
      <p:sp>
        <p:nvSpPr>
          <p:cNvPr id="10" name="Shape 8"/>
          <p:cNvSpPr/>
          <p:nvPr/>
        </p:nvSpPr>
        <p:spPr>
          <a:xfrm>
            <a:off x="1097280" y="3392424"/>
            <a:ext cx="146304" cy="146304"/>
          </a:xfrm>
          <a:prstGeom prst="ellipse">
            <a:avLst/>
          </a:prstGeom>
          <a:solidFill>
            <a:srgbClr val="02C39A"/>
          </a:solidFill>
          <a:ln/>
        </p:spPr>
      </p:sp>
      <p:sp>
        <p:nvSpPr>
          <p:cNvPr id="11" name="Text 9"/>
          <p:cNvSpPr/>
          <p:nvPr/>
        </p:nvSpPr>
        <p:spPr>
          <a:xfrm>
            <a:off x="1417320" y="3044952"/>
            <a:ext cx="3931920" cy="841248"/>
          </a:xfrm>
          <a:prstGeom prst="rect">
            <a:avLst/>
          </a:prstGeom>
          <a:noFill/>
          <a:ln/>
        </p:spPr>
        <p:txBody>
          <a:bodyPr wrap="square" lIns="0" tIns="0" rIns="0" bIns="0"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"Why does MIG welding go porous?"</a:t>
            </a:r>
            <a:endParaRPr lang="en-US" sz="1400" dirty="0"/>
          </a:p>
        </p:txBody>
      </p:sp>
      <p:sp>
        <p:nvSpPr>
          <p:cNvPr id="12" name="Text 10"/>
          <p:cNvSpPr/>
          <p:nvPr/>
        </p:nvSpPr>
        <p:spPr>
          <a:xfrm>
            <a:off x="5486400" y="3044952"/>
            <a:ext cx="5669280" cy="841248"/>
          </a:xfrm>
          <a:prstGeom prst="rect">
            <a:avLst/>
          </a:prstGeom>
          <a:noFill/>
          <a:ln/>
        </p:spPr>
        <p:txBody>
          <a:bodyPr wrap="square" lIns="0" tIns="0" rIns="0" bIns="0" rtlCol="0" anchor="ctr"/>
          <a:lstStyle/>
          <a:p>
            <a:pPr indent="0" marL="0">
              <a:lnSpc>
                <a:spcPts val="1500"/>
              </a:lnSpc>
              <a:buNone/>
            </a:pPr>
            <a:r>
              <a:rPr lang="en-US" sz="1200" dirty="0">
                <a:solidFill>
                  <a:srgbClr val="4A6B70"/>
                </a:solidFill>
                <a:latin typeface="Calibri" pitchFamily="34" charset="0"/>
                <a:ea typeface="Calibri" pitchFamily="34" charset="-122"/>
                <a:cs typeface="Calibri" pitchFamily="34" charset="-120"/>
              </a:rPr>
              <a:t>Answered from general knowledge, clearly labelled as not from your SOPs.</a:t>
            </a:r>
            <a:endParaRPr lang="en-US" sz="1200" dirty="0"/>
          </a:p>
        </p:txBody>
      </p:sp>
      <p:sp>
        <p:nvSpPr>
          <p:cNvPr id="13" name="Shape 11"/>
          <p:cNvSpPr/>
          <p:nvPr/>
        </p:nvSpPr>
        <p:spPr>
          <a:xfrm>
            <a:off x="822960" y="4032504"/>
            <a:ext cx="10515600" cy="841248"/>
          </a:xfrm>
          <a:prstGeom prst="roundRect">
            <a:avLst>
              <a:gd name="adj" fmla="val 8696"/>
            </a:avLst>
          </a:prstGeom>
          <a:solidFill>
            <a:srgbClr val="F2F7F7"/>
          </a:solidFill>
          <a:ln w="12700">
            <a:solidFill>
              <a:srgbClr val="D9E6E6"/>
            </a:solidFill>
            <a:prstDash val="solid"/>
          </a:ln>
        </p:spPr>
      </p:sp>
      <p:sp>
        <p:nvSpPr>
          <p:cNvPr id="14" name="Shape 12"/>
          <p:cNvSpPr/>
          <p:nvPr/>
        </p:nvSpPr>
        <p:spPr>
          <a:xfrm>
            <a:off x="1097280" y="4379976"/>
            <a:ext cx="146304" cy="146304"/>
          </a:xfrm>
          <a:prstGeom prst="ellipse">
            <a:avLst/>
          </a:prstGeom>
          <a:solidFill>
            <a:srgbClr val="02C39A"/>
          </a:solidFill>
          <a:ln/>
        </p:spPr>
      </p:sp>
      <p:sp>
        <p:nvSpPr>
          <p:cNvPr id="15" name="Text 13"/>
          <p:cNvSpPr/>
          <p:nvPr/>
        </p:nvSpPr>
        <p:spPr>
          <a:xfrm>
            <a:off x="1417320" y="4032504"/>
            <a:ext cx="3931920" cy="841248"/>
          </a:xfrm>
          <a:prstGeom prst="rect">
            <a:avLst/>
          </a:prstGeom>
          <a:noFill/>
          <a:ln/>
        </p:spPr>
        <p:txBody>
          <a:bodyPr wrap="square" lIns="0" tIns="0" rIns="0" bIns="0"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"How do I clear a jam?"</a:t>
            </a:r>
            <a:endParaRPr lang="en-US" sz="1400" dirty="0"/>
          </a:p>
        </p:txBody>
      </p:sp>
      <p:sp>
        <p:nvSpPr>
          <p:cNvPr id="16" name="Text 14"/>
          <p:cNvSpPr/>
          <p:nvPr/>
        </p:nvSpPr>
        <p:spPr>
          <a:xfrm>
            <a:off x="5486400" y="4032504"/>
            <a:ext cx="5669280" cy="841248"/>
          </a:xfrm>
          <a:prstGeom prst="rect">
            <a:avLst/>
          </a:prstGeom>
          <a:noFill/>
          <a:ln/>
        </p:spPr>
        <p:txBody>
          <a:bodyPr wrap="square" lIns="0" tIns="0" rIns="0" bIns="0" rtlCol="0" anchor="ctr"/>
          <a:lstStyle/>
          <a:p>
            <a:pPr indent="0" marL="0">
              <a:lnSpc>
                <a:spcPts val="1500"/>
              </a:lnSpc>
              <a:buNone/>
            </a:pPr>
            <a:r>
              <a:rPr lang="en-US" sz="1200" dirty="0">
                <a:solidFill>
                  <a:srgbClr val="4A6B70"/>
                </a:solidFill>
                <a:latin typeface="Calibri" pitchFamily="34" charset="0"/>
                <a:ea typeface="Calibri" pitchFamily="34" charset="-122"/>
                <a:cs typeface="Calibri" pitchFamily="34" charset="-120"/>
              </a:rPr>
              <a:t>Answered from SOP-010, with the exact section and a link into the document.</a:t>
            </a:r>
            <a:endParaRPr lang="en-US" sz="1200" dirty="0"/>
          </a:p>
        </p:txBody>
      </p:sp>
      <p:sp>
        <p:nvSpPr>
          <p:cNvPr id="17" name="Shape 15"/>
          <p:cNvSpPr/>
          <p:nvPr/>
        </p:nvSpPr>
        <p:spPr>
          <a:xfrm>
            <a:off x="822960" y="5020056"/>
            <a:ext cx="10515600" cy="841248"/>
          </a:xfrm>
          <a:prstGeom prst="roundRect">
            <a:avLst>
              <a:gd name="adj" fmla="val 8696"/>
            </a:avLst>
          </a:prstGeom>
          <a:solidFill>
            <a:srgbClr val="F2F7F7"/>
          </a:solidFill>
          <a:ln w="12700">
            <a:solidFill>
              <a:srgbClr val="D9E6E6"/>
            </a:solidFill>
            <a:prstDash val="solid"/>
          </a:ln>
        </p:spPr>
      </p:sp>
      <p:sp>
        <p:nvSpPr>
          <p:cNvPr id="18" name="Shape 16"/>
          <p:cNvSpPr/>
          <p:nvPr/>
        </p:nvSpPr>
        <p:spPr>
          <a:xfrm>
            <a:off x="1097280" y="5367528"/>
            <a:ext cx="146304" cy="146304"/>
          </a:xfrm>
          <a:prstGeom prst="ellipse">
            <a:avLst/>
          </a:prstGeom>
          <a:solidFill>
            <a:srgbClr val="4A6B70"/>
          </a:solidFill>
          <a:ln/>
        </p:spPr>
      </p:sp>
      <p:sp>
        <p:nvSpPr>
          <p:cNvPr id="19" name="Text 17"/>
          <p:cNvSpPr/>
          <p:nvPr/>
        </p:nvSpPr>
        <p:spPr>
          <a:xfrm>
            <a:off x="1417320" y="5020056"/>
            <a:ext cx="3931920" cy="841248"/>
          </a:xfrm>
          <a:prstGeom prst="rect">
            <a:avLst/>
          </a:prstGeom>
          <a:noFill/>
          <a:ln/>
        </p:spPr>
        <p:txBody>
          <a:bodyPr wrap="square" lIns="0" tIns="0" rIns="0" bIns="0"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Anything the manuals do not cover</a:t>
            </a:r>
            <a:endParaRPr lang="en-US" sz="1400" dirty="0"/>
          </a:p>
        </p:txBody>
      </p:sp>
      <p:sp>
        <p:nvSpPr>
          <p:cNvPr id="20" name="Text 18"/>
          <p:cNvSpPr/>
          <p:nvPr/>
        </p:nvSpPr>
        <p:spPr>
          <a:xfrm>
            <a:off x="5486400" y="5020056"/>
            <a:ext cx="5669280" cy="841248"/>
          </a:xfrm>
          <a:prstGeom prst="rect">
            <a:avLst/>
          </a:prstGeom>
          <a:noFill/>
          <a:ln/>
        </p:spPr>
        <p:txBody>
          <a:bodyPr wrap="square" lIns="0" tIns="0" rIns="0" bIns="0" rtlCol="0" anchor="ctr"/>
          <a:lstStyle/>
          <a:p>
            <a:pPr indent="0" marL="0">
              <a:lnSpc>
                <a:spcPts val="1500"/>
              </a:lnSpc>
              <a:buNone/>
            </a:pPr>
            <a:r>
              <a:rPr lang="en-US" sz="1200" dirty="0">
                <a:solidFill>
                  <a:srgbClr val="4A6B70"/>
                </a:solidFill>
                <a:latin typeface="Calibri" pitchFamily="34" charset="0"/>
                <a:ea typeface="Calibri" pitchFamily="34" charset="-122"/>
                <a:cs typeface="Calibri" pitchFamily="34" charset="-120"/>
              </a:rPr>
              <a:t>Says so, and offers questions it can answer. It does not improvise.</a:t>
            </a:r>
            <a:endParaRPr lang="en-US" sz="1200" dirty="0"/>
          </a:p>
        </p:txBody>
      </p:sp>
      <p:sp>
        <p:nvSpPr>
          <p:cNvPr id="21" name="Text 19"/>
          <p:cNvSpPr/>
          <p:nvPr/>
        </p:nvSpPr>
        <p:spPr>
          <a:xfrm>
            <a:off x="822960" y="6172200"/>
            <a:ext cx="10058400" cy="365760"/>
          </a:xfrm>
          <a:prstGeom prst="rect">
            <a:avLst/>
          </a:prstGeom>
          <a:noFill/>
          <a:ln/>
        </p:spPr>
        <p:txBody>
          <a:bodyPr wrap="square" lIns="0" tIns="0" rIns="0" bIns="0" rtlCol="0" anchor="ctr"/>
          <a:lstStyle/>
          <a:p>
            <a:pPr indent="0" marL="0">
              <a:buNone/>
            </a:pPr>
            <a:r>
              <a:rPr lang="en-US" sz="1400" i="1" dirty="0">
                <a:solidFill>
                  <a:srgbClr val="028090"/>
                </a:solidFill>
                <a:latin typeface="Calibri" pitchFamily="34" charset="0"/>
                <a:ea typeface="Calibri" pitchFamily="34" charset="-122"/>
                <a:cs typeface="Calibri" pitchFamily="34" charset="-120"/>
              </a:rPr>
              <a:t>A model that guesses about a factory is worse than no model at all.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822960" y="694944"/>
            <a:ext cx="109728" cy="109728"/>
          </a:xfrm>
          <a:prstGeom prst="ellipse">
            <a:avLst/>
          </a:prstGeom>
          <a:solidFill>
            <a:srgbClr val="02C39A"/>
          </a:solidFill>
          <a:ln/>
        </p:spPr>
      </p:sp>
      <p:sp>
        <p:nvSpPr>
          <p:cNvPr id="3" name="Text 1"/>
          <p:cNvSpPr/>
          <p:nvPr/>
        </p:nvSpPr>
        <p:spPr>
          <a:xfrm>
            <a:off x="1042416" y="640080"/>
            <a:ext cx="54864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THE 30 MINUTE CLAIM</a:t>
            </a:r>
            <a:endParaRPr lang="en-US" sz="1100" dirty="0"/>
          </a:p>
        </p:txBody>
      </p:sp>
      <p:sp>
        <p:nvSpPr>
          <p:cNvPr id="4" name="Text 2"/>
          <p:cNvSpPr/>
          <p:nvPr/>
        </p:nvSpPr>
        <p:spPr>
          <a:xfrm>
            <a:off x="822960" y="1051560"/>
            <a:ext cx="104241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35 minutes becomes about 40 seconds</a:t>
            </a:r>
            <a:endParaRPr lang="en-US" sz="3800" dirty="0"/>
          </a:p>
        </p:txBody>
      </p:sp>
      <p:sp>
        <p:nvSpPr>
          <p:cNvPr id="5" name="Shape 3"/>
          <p:cNvSpPr/>
          <p:nvPr/>
        </p:nvSpPr>
        <p:spPr>
          <a:xfrm>
            <a:off x="822960" y="2514600"/>
            <a:ext cx="3200400" cy="2148840"/>
          </a:xfrm>
          <a:prstGeom prst="roundRect">
            <a:avLst>
              <a:gd name="adj" fmla="val 4255"/>
            </a:avLst>
          </a:prstGeom>
          <a:solidFill>
            <a:srgbClr val="133C42"/>
          </a:solidFill>
          <a:ln w="12700">
            <a:solidFill>
              <a:srgbClr val="1E5158"/>
            </a:solidFill>
            <a:prstDash val="solid"/>
          </a:ln>
        </p:spPr>
      </p:sp>
      <p:sp>
        <p:nvSpPr>
          <p:cNvPr id="6" name="Text 4"/>
          <p:cNvSpPr/>
          <p:nvPr/>
        </p:nvSpPr>
        <p:spPr>
          <a:xfrm>
            <a:off x="822960" y="2834640"/>
            <a:ext cx="3200400" cy="914400"/>
          </a:xfrm>
          <a:prstGeom prst="rect">
            <a:avLst/>
          </a:prstGeom>
          <a:noFill/>
          <a:ln/>
        </p:spPr>
        <p:txBody>
          <a:bodyPr wrap="square" lIns="0" tIns="0" rIns="0" bIns="0" rtlCol="0" anchor="ctr"/>
          <a:lstStyle/>
          <a:p>
            <a:pPr algn="ctr" indent="0" marL="0">
              <a:buNone/>
            </a:pPr>
            <a:r>
              <a:rPr lang="en-US" sz="4800" b="1" dirty="0">
                <a:solidFill>
                  <a:srgbClr val="02C39A"/>
                </a:solidFill>
                <a:latin typeface="Cambria" pitchFamily="34" charset="0"/>
                <a:ea typeface="Cambria" pitchFamily="34" charset="-122"/>
                <a:cs typeface="Cambria" pitchFamily="34" charset="-120"/>
              </a:rPr>
              <a:t>35 min</a:t>
            </a:r>
            <a:endParaRPr lang="en-US" sz="4800" dirty="0"/>
          </a:p>
        </p:txBody>
      </p:sp>
      <p:sp>
        <p:nvSpPr>
          <p:cNvPr id="7" name="Text 5"/>
          <p:cNvSpPr/>
          <p:nvPr/>
        </p:nvSpPr>
        <p:spPr>
          <a:xfrm>
            <a:off x="822960" y="3840480"/>
            <a:ext cx="3200400" cy="457200"/>
          </a:xfrm>
          <a:prstGeom prst="rect">
            <a:avLst/>
          </a:prstGeom>
          <a:noFill/>
          <a:ln/>
        </p:spPr>
        <p:txBody>
          <a:bodyPr wrap="square" lIns="0" tIns="0" rIns="0" bIns="0" rtlCol="0" anchor="ctr"/>
          <a:lstStyle/>
          <a:p>
            <a:pPr algn="ctr" indent="0" marL="0">
              <a:buNone/>
            </a:pPr>
            <a:r>
              <a:rPr lang="en-US" sz="1200" dirty="0">
                <a:solidFill>
                  <a:srgbClr val="B8D4D4"/>
                </a:solidFill>
                <a:latin typeface="Calibri" pitchFamily="34" charset="0"/>
                <a:ea typeface="Calibri" pitchFamily="34" charset="-122"/>
                <a:cs typeface="Calibri" pitchFamily="34" charset="-120"/>
              </a:rPr>
              <a:t>By hand, every morning</a:t>
            </a:r>
            <a:endParaRPr lang="en-US" sz="1200" dirty="0"/>
          </a:p>
        </p:txBody>
      </p:sp>
      <p:sp>
        <p:nvSpPr>
          <p:cNvPr id="8" name="Shape 6"/>
          <p:cNvSpPr/>
          <p:nvPr/>
        </p:nvSpPr>
        <p:spPr>
          <a:xfrm>
            <a:off x="4389120" y="2514600"/>
            <a:ext cx="3200400" cy="2148840"/>
          </a:xfrm>
          <a:prstGeom prst="roundRect">
            <a:avLst>
              <a:gd name="adj" fmla="val 4255"/>
            </a:avLst>
          </a:prstGeom>
          <a:solidFill>
            <a:srgbClr val="133C42"/>
          </a:solidFill>
          <a:ln w="12700">
            <a:solidFill>
              <a:srgbClr val="1E5158"/>
            </a:solidFill>
            <a:prstDash val="solid"/>
          </a:ln>
        </p:spPr>
      </p:sp>
      <p:sp>
        <p:nvSpPr>
          <p:cNvPr id="9" name="Text 7"/>
          <p:cNvSpPr/>
          <p:nvPr/>
        </p:nvSpPr>
        <p:spPr>
          <a:xfrm>
            <a:off x="4389120" y="2834640"/>
            <a:ext cx="3200400" cy="914400"/>
          </a:xfrm>
          <a:prstGeom prst="rect">
            <a:avLst/>
          </a:prstGeom>
          <a:noFill/>
          <a:ln/>
        </p:spPr>
        <p:txBody>
          <a:bodyPr wrap="square" lIns="0" tIns="0" rIns="0" bIns="0" rtlCol="0" anchor="ctr"/>
          <a:lstStyle/>
          <a:p>
            <a:pPr algn="ctr" indent="0" marL="0">
              <a:buNone/>
            </a:pPr>
            <a:r>
              <a:rPr lang="en-US" sz="4800" b="1" dirty="0">
                <a:solidFill>
                  <a:srgbClr val="02C39A"/>
                </a:solidFill>
                <a:latin typeface="Cambria" pitchFamily="34" charset="0"/>
                <a:ea typeface="Cambria" pitchFamily="34" charset="-122"/>
                <a:cs typeface="Cambria" pitchFamily="34" charset="-120"/>
              </a:rPr>
              <a:t>40 sec</a:t>
            </a:r>
            <a:endParaRPr lang="en-US" sz="4800" dirty="0"/>
          </a:p>
        </p:txBody>
      </p:sp>
      <p:sp>
        <p:nvSpPr>
          <p:cNvPr id="10" name="Text 8"/>
          <p:cNvSpPr/>
          <p:nvPr/>
        </p:nvSpPr>
        <p:spPr>
          <a:xfrm>
            <a:off x="4389120" y="3840480"/>
            <a:ext cx="3200400" cy="457200"/>
          </a:xfrm>
          <a:prstGeom prst="rect">
            <a:avLst/>
          </a:prstGeom>
          <a:noFill/>
          <a:ln/>
        </p:spPr>
        <p:txBody>
          <a:bodyPr wrap="square" lIns="0" tIns="0" rIns="0" bIns="0" rtlCol="0" anchor="ctr"/>
          <a:lstStyle/>
          <a:p>
            <a:pPr algn="ctr" indent="0" marL="0">
              <a:buNone/>
            </a:pPr>
            <a:r>
              <a:rPr lang="en-US" sz="1200" dirty="0">
                <a:solidFill>
                  <a:srgbClr val="B8D4D4"/>
                </a:solidFill>
                <a:latin typeface="Calibri" pitchFamily="34" charset="0"/>
                <a:ea typeface="Calibri" pitchFamily="34" charset="-122"/>
                <a:cs typeface="Calibri" pitchFamily="34" charset="-120"/>
              </a:rPr>
              <a:t>Open, read, drill in, act</a:t>
            </a:r>
            <a:endParaRPr lang="en-US" sz="1200" dirty="0"/>
          </a:p>
        </p:txBody>
      </p:sp>
      <p:sp>
        <p:nvSpPr>
          <p:cNvPr id="11" name="Shape 9"/>
          <p:cNvSpPr/>
          <p:nvPr/>
        </p:nvSpPr>
        <p:spPr>
          <a:xfrm>
            <a:off x="7955280" y="2514600"/>
            <a:ext cx="3200400" cy="2148840"/>
          </a:xfrm>
          <a:prstGeom prst="roundRect">
            <a:avLst>
              <a:gd name="adj" fmla="val 4255"/>
            </a:avLst>
          </a:prstGeom>
          <a:solidFill>
            <a:srgbClr val="133C42"/>
          </a:solidFill>
          <a:ln w="12700">
            <a:solidFill>
              <a:srgbClr val="1E5158"/>
            </a:solidFill>
            <a:prstDash val="solid"/>
          </a:ln>
        </p:spPr>
      </p:sp>
      <p:sp>
        <p:nvSpPr>
          <p:cNvPr id="12" name="Text 10"/>
          <p:cNvSpPr/>
          <p:nvPr/>
        </p:nvSpPr>
        <p:spPr>
          <a:xfrm>
            <a:off x="7955280" y="2834640"/>
            <a:ext cx="3200400" cy="914400"/>
          </a:xfrm>
          <a:prstGeom prst="rect">
            <a:avLst/>
          </a:prstGeom>
          <a:noFill/>
          <a:ln/>
        </p:spPr>
        <p:txBody>
          <a:bodyPr wrap="square" lIns="0" tIns="0" rIns="0" bIns="0" rtlCol="0" anchor="ctr"/>
          <a:lstStyle/>
          <a:p>
            <a:pPr algn="ctr" indent="0" marL="0">
              <a:buNone/>
            </a:pPr>
            <a:r>
              <a:rPr lang="en-US" sz="4800" b="1" dirty="0">
                <a:solidFill>
                  <a:srgbClr val="02C39A"/>
                </a:solidFill>
                <a:latin typeface="Cambria" pitchFamily="34" charset="0"/>
                <a:ea typeface="Cambria" pitchFamily="34" charset="-122"/>
                <a:cs typeface="Cambria" pitchFamily="34" charset="-120"/>
              </a:rPr>
              <a:t>3 formats</a:t>
            </a:r>
            <a:endParaRPr lang="en-US" sz="4800" dirty="0"/>
          </a:p>
        </p:txBody>
      </p:sp>
      <p:sp>
        <p:nvSpPr>
          <p:cNvPr id="13" name="Text 11"/>
          <p:cNvSpPr/>
          <p:nvPr/>
        </p:nvSpPr>
        <p:spPr>
          <a:xfrm>
            <a:off x="7955280" y="3840480"/>
            <a:ext cx="3200400" cy="457200"/>
          </a:xfrm>
          <a:prstGeom prst="rect">
            <a:avLst/>
          </a:prstGeom>
          <a:noFill/>
          <a:ln/>
        </p:spPr>
        <p:txBody>
          <a:bodyPr wrap="square" lIns="0" tIns="0" rIns="0" bIns="0" rtlCol="0" anchor="ctr"/>
          <a:lstStyle/>
          <a:p>
            <a:pPr algn="ctr" indent="0" marL="0">
              <a:buNone/>
            </a:pPr>
            <a:r>
              <a:rPr lang="en-US" sz="1200" dirty="0">
                <a:solidFill>
                  <a:srgbClr val="B8D4D4"/>
                </a:solidFill>
                <a:latin typeface="Calibri" pitchFamily="34" charset="0"/>
                <a:ea typeface="Calibri" pitchFamily="34" charset="-122"/>
                <a:cs typeface="Calibri" pitchFamily="34" charset="-120"/>
              </a:rPr>
              <a:t>PDF, Excel and MIS export</a:t>
            </a:r>
            <a:endParaRPr lang="en-US" sz="1200" dirty="0"/>
          </a:p>
        </p:txBody>
      </p:sp>
      <p:sp>
        <p:nvSpPr>
          <p:cNvPr id="14" name="Text 12"/>
          <p:cNvSpPr/>
          <p:nvPr/>
        </p:nvSpPr>
        <p:spPr>
          <a:xfrm>
            <a:off x="822960" y="5166360"/>
            <a:ext cx="9875520" cy="822960"/>
          </a:xfrm>
          <a:prstGeom prst="rect">
            <a:avLst/>
          </a:prstGeom>
          <a:noFill/>
          <a:ln/>
        </p:spPr>
        <p:txBody>
          <a:bodyPr wrap="square" lIns="0" tIns="0" rIns="0" bIns="0" rtlCol="0" anchor="ctr"/>
          <a:lstStyle/>
          <a:p>
            <a:pPr indent="0" marL="0">
              <a:lnSpc>
                <a:spcPts val="2200"/>
              </a:lnSpc>
              <a:buNone/>
            </a:pPr>
            <a:r>
              <a:rPr lang="en-US" sz="1450" dirty="0">
                <a:solidFill>
                  <a:srgbClr val="B8D4D4"/>
                </a:solidFill>
                <a:latin typeface="Calibri" pitchFamily="34" charset="0"/>
                <a:ea typeface="Calibri" pitchFamily="34" charset="-122"/>
                <a:cs typeface="Calibri" pitchFamily="34" charset="-120"/>
              </a:rPr>
              <a:t>The report footer carries this claim and how it was worked out, so it travels with every file that leaves the app.</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694944"/>
            <a:ext cx="109728" cy="109728"/>
          </a:xfrm>
          <a:prstGeom prst="ellipse">
            <a:avLst/>
          </a:prstGeom>
          <a:solidFill>
            <a:srgbClr val="02C39A"/>
          </a:solidFill>
          <a:ln/>
        </p:spPr>
      </p:sp>
      <p:sp>
        <p:nvSpPr>
          <p:cNvPr id="3" name="Text 1"/>
          <p:cNvSpPr/>
          <p:nvPr/>
        </p:nvSpPr>
        <p:spPr>
          <a:xfrm>
            <a:off x="1042416" y="640080"/>
            <a:ext cx="5486400" cy="237744"/>
          </a:xfrm>
          <a:prstGeom prst="rect">
            <a:avLst/>
          </a:prstGeom>
          <a:noFill/>
          <a:ln/>
        </p:spPr>
        <p:txBody>
          <a:bodyPr wrap="square" lIns="0" tIns="0" rIns="0" bIns="0" rtlCol="0" anchor="ctr"/>
          <a:lstStyle/>
          <a:p>
            <a:pPr indent="0" marL="0">
              <a:buNone/>
            </a:pPr>
            <a:r>
              <a:rPr lang="en-US" sz="1100" b="1" spc="200" kern="0" dirty="0">
                <a:solidFill>
                  <a:srgbClr val="4A6B70"/>
                </a:solidFill>
                <a:latin typeface="Calibri" pitchFamily="34" charset="0"/>
                <a:ea typeface="Calibri" pitchFamily="34" charset="-122"/>
                <a:cs typeface="Calibri" pitchFamily="34" charset="-120"/>
              </a:rPr>
              <a:t>HOW IT IS BUILT</a:t>
            </a:r>
            <a:endParaRPr lang="en-US" sz="1100" dirty="0"/>
          </a:p>
        </p:txBody>
      </p:sp>
      <p:sp>
        <p:nvSpPr>
          <p:cNvPr id="4" name="Text 2"/>
          <p:cNvSpPr/>
          <p:nvPr/>
        </p:nvSpPr>
        <p:spPr>
          <a:xfrm>
            <a:off x="822960" y="1005840"/>
            <a:ext cx="10424160" cy="731520"/>
          </a:xfrm>
          <a:prstGeom prst="rect">
            <a:avLst/>
          </a:prstGeom>
          <a:noFill/>
          <a:ln/>
        </p:spPr>
        <p:txBody>
          <a:bodyPr wrap="square" lIns="0" tIns="0" rIns="0" bIns="0" rtlCol="0" anchor="ctr"/>
          <a:lstStyle/>
          <a:p>
            <a:pPr indent="0" marL="0">
              <a:buNone/>
            </a:pPr>
            <a:r>
              <a:rPr lang="en-US" sz="3800" b="1" dirty="0">
                <a:solidFill>
                  <a:srgbClr val="0B2E33"/>
                </a:solidFill>
                <a:latin typeface="Cambria" pitchFamily="34" charset="0"/>
                <a:ea typeface="Cambria" pitchFamily="34" charset="-122"/>
                <a:cs typeface="Cambria" pitchFamily="34" charset="-120"/>
              </a:rPr>
              <a:t>Runs on the plant's own machine</a:t>
            </a:r>
            <a:endParaRPr lang="en-US" sz="3800" dirty="0"/>
          </a:p>
        </p:txBody>
      </p:sp>
      <p:sp>
        <p:nvSpPr>
          <p:cNvPr id="5" name="Shape 3"/>
          <p:cNvSpPr/>
          <p:nvPr/>
        </p:nvSpPr>
        <p:spPr>
          <a:xfrm>
            <a:off x="822960" y="2240280"/>
            <a:ext cx="10515600" cy="868680"/>
          </a:xfrm>
          <a:prstGeom prst="roundRect">
            <a:avLst>
              <a:gd name="adj" fmla="val 8421"/>
            </a:avLst>
          </a:prstGeom>
          <a:solidFill>
            <a:srgbClr val="F2F7F7"/>
          </a:solidFill>
          <a:ln w="12700">
            <a:solidFill>
              <a:srgbClr val="D9E6E6"/>
            </a:solidFill>
            <a:prstDash val="solid"/>
          </a:ln>
        </p:spPr>
      </p:sp>
      <p:sp>
        <p:nvSpPr>
          <p:cNvPr id="6" name="Shape 4"/>
          <p:cNvSpPr/>
          <p:nvPr/>
        </p:nvSpPr>
        <p:spPr>
          <a:xfrm>
            <a:off x="1097280" y="2601468"/>
            <a:ext cx="292608" cy="292608"/>
          </a:xfrm>
          <a:prstGeom prst="ellipse">
            <a:avLst/>
          </a:prstGeom>
          <a:solidFill>
            <a:srgbClr val="028090"/>
          </a:solidFill>
          <a:ln/>
        </p:spPr>
      </p:sp>
      <p:sp>
        <p:nvSpPr>
          <p:cNvPr id="7" name="Text 5"/>
          <p:cNvSpPr/>
          <p:nvPr/>
        </p:nvSpPr>
        <p:spPr>
          <a:xfrm>
            <a:off x="1572768" y="2240280"/>
            <a:ext cx="2651760" cy="868680"/>
          </a:xfrm>
          <a:prstGeom prst="rect">
            <a:avLst/>
          </a:prstGeom>
          <a:noFill/>
          <a:ln/>
        </p:spPr>
        <p:txBody>
          <a:bodyPr wrap="square" lIns="0" tIns="0" rIns="0" bIns="0" rtlCol="0" anchor="ctr"/>
          <a:lstStyle/>
          <a:p>
            <a:pPr indent="0" marL="0">
              <a:buNone/>
            </a:pPr>
            <a:r>
              <a:rPr lang="en-US" sz="1500" b="1" dirty="0">
                <a:solidFill>
                  <a:srgbClr val="0B2E33"/>
                </a:solidFill>
                <a:latin typeface="Calibri" pitchFamily="34" charset="0"/>
                <a:ea typeface="Calibri" pitchFamily="34" charset="-122"/>
                <a:cs typeface="Calibri" pitchFamily="34" charset="-120"/>
              </a:rPr>
              <a:t>Desktop app</a:t>
            </a:r>
            <a:endParaRPr lang="en-US" sz="1500" dirty="0"/>
          </a:p>
        </p:txBody>
      </p:sp>
      <p:sp>
        <p:nvSpPr>
          <p:cNvPr id="8" name="Text 6"/>
          <p:cNvSpPr/>
          <p:nvPr/>
        </p:nvSpPr>
        <p:spPr>
          <a:xfrm>
            <a:off x="4343400" y="2240280"/>
            <a:ext cx="6675120" cy="868680"/>
          </a:xfrm>
          <a:prstGeom prst="rect">
            <a:avLst/>
          </a:prstGeom>
          <a:noFill/>
          <a:ln/>
        </p:spPr>
        <p:txBody>
          <a:bodyPr wrap="square" lIns="0" tIns="0" rIns="0" bIns="0" rtlCol="0" anchor="ctr"/>
          <a:lstStyle/>
          <a:p>
            <a:pPr indent="0" marL="0">
              <a:buNone/>
            </a:pPr>
            <a:r>
              <a:rPr lang="en-US" sz="1250" dirty="0">
                <a:solidFill>
                  <a:srgbClr val="4A6B70"/>
                </a:solidFill>
                <a:latin typeface="Calibri" pitchFamily="34" charset="0"/>
                <a:ea typeface="Calibri" pitchFamily="34" charset="-122"/>
                <a:cs typeface="Calibri" pitchFamily="34" charset="-120"/>
              </a:rPr>
              <a:t>One process, native window. No browser, no server to rent.</a:t>
            </a:r>
            <a:endParaRPr lang="en-US" sz="1250" dirty="0"/>
          </a:p>
        </p:txBody>
      </p:sp>
      <p:sp>
        <p:nvSpPr>
          <p:cNvPr id="9" name="Shape 7"/>
          <p:cNvSpPr/>
          <p:nvPr/>
        </p:nvSpPr>
        <p:spPr>
          <a:xfrm>
            <a:off x="822960" y="3264408"/>
            <a:ext cx="10515600" cy="868680"/>
          </a:xfrm>
          <a:prstGeom prst="roundRect">
            <a:avLst>
              <a:gd name="adj" fmla="val 8421"/>
            </a:avLst>
          </a:prstGeom>
          <a:solidFill>
            <a:srgbClr val="F2F7F7"/>
          </a:solidFill>
          <a:ln w="12700">
            <a:solidFill>
              <a:srgbClr val="D9E6E6"/>
            </a:solidFill>
            <a:prstDash val="solid"/>
          </a:ln>
        </p:spPr>
      </p:sp>
      <p:sp>
        <p:nvSpPr>
          <p:cNvPr id="10" name="Shape 8"/>
          <p:cNvSpPr/>
          <p:nvPr/>
        </p:nvSpPr>
        <p:spPr>
          <a:xfrm>
            <a:off x="1097280" y="3625596"/>
            <a:ext cx="292608" cy="292608"/>
          </a:xfrm>
          <a:prstGeom prst="ellipse">
            <a:avLst/>
          </a:prstGeom>
          <a:solidFill>
            <a:srgbClr val="028090"/>
          </a:solidFill>
          <a:ln/>
        </p:spPr>
      </p:sp>
      <p:sp>
        <p:nvSpPr>
          <p:cNvPr id="11" name="Text 9"/>
          <p:cNvSpPr/>
          <p:nvPr/>
        </p:nvSpPr>
        <p:spPr>
          <a:xfrm>
            <a:off x="1572768" y="3264408"/>
            <a:ext cx="2651760" cy="868680"/>
          </a:xfrm>
          <a:prstGeom prst="rect">
            <a:avLst/>
          </a:prstGeom>
          <a:noFill/>
          <a:ln/>
        </p:spPr>
        <p:txBody>
          <a:bodyPr wrap="square" lIns="0" tIns="0" rIns="0" bIns="0" rtlCol="0" anchor="ctr"/>
          <a:lstStyle/>
          <a:p>
            <a:pPr indent="0" marL="0">
              <a:buNone/>
            </a:pPr>
            <a:r>
              <a:rPr lang="en-US" sz="1500" b="1" dirty="0">
                <a:solidFill>
                  <a:srgbClr val="0B2E33"/>
                </a:solidFill>
                <a:latin typeface="Calibri" pitchFamily="34" charset="0"/>
                <a:ea typeface="Calibri" pitchFamily="34" charset="-122"/>
                <a:cs typeface="Calibri" pitchFamily="34" charset="-120"/>
              </a:rPr>
              <a:t>Local model</a:t>
            </a:r>
            <a:endParaRPr lang="en-US" sz="1500" dirty="0"/>
          </a:p>
        </p:txBody>
      </p:sp>
      <p:sp>
        <p:nvSpPr>
          <p:cNvPr id="12" name="Text 10"/>
          <p:cNvSpPr/>
          <p:nvPr/>
        </p:nvSpPr>
        <p:spPr>
          <a:xfrm>
            <a:off x="4343400" y="3264408"/>
            <a:ext cx="6675120" cy="868680"/>
          </a:xfrm>
          <a:prstGeom prst="rect">
            <a:avLst/>
          </a:prstGeom>
          <a:noFill/>
          <a:ln/>
        </p:spPr>
        <p:txBody>
          <a:bodyPr wrap="square" lIns="0" tIns="0" rIns="0" bIns="0" rtlCol="0" anchor="ctr"/>
          <a:lstStyle/>
          <a:p>
            <a:pPr indent="0" marL="0">
              <a:buNone/>
            </a:pPr>
            <a:r>
              <a:rPr lang="en-US" sz="1250" dirty="0">
                <a:solidFill>
                  <a:srgbClr val="4A6B70"/>
                </a:solidFill>
                <a:latin typeface="Calibri" pitchFamily="34" charset="0"/>
                <a:ea typeface="Calibri" pitchFamily="34" charset="-122"/>
                <a:cs typeface="Calibri" pitchFamily="34" charset="-120"/>
              </a:rPr>
              <a:t>Ollama with Qwen 2.5. Factory data never leaves the building.</a:t>
            </a:r>
            <a:endParaRPr lang="en-US" sz="1250" dirty="0"/>
          </a:p>
        </p:txBody>
      </p:sp>
      <p:sp>
        <p:nvSpPr>
          <p:cNvPr id="13" name="Shape 11"/>
          <p:cNvSpPr/>
          <p:nvPr/>
        </p:nvSpPr>
        <p:spPr>
          <a:xfrm>
            <a:off x="822960" y="4288536"/>
            <a:ext cx="10515600" cy="868680"/>
          </a:xfrm>
          <a:prstGeom prst="roundRect">
            <a:avLst>
              <a:gd name="adj" fmla="val 8421"/>
            </a:avLst>
          </a:prstGeom>
          <a:solidFill>
            <a:srgbClr val="F2F7F7"/>
          </a:solidFill>
          <a:ln w="12700">
            <a:solidFill>
              <a:srgbClr val="D9E6E6"/>
            </a:solidFill>
            <a:prstDash val="solid"/>
          </a:ln>
        </p:spPr>
      </p:sp>
      <p:sp>
        <p:nvSpPr>
          <p:cNvPr id="14" name="Shape 12"/>
          <p:cNvSpPr/>
          <p:nvPr/>
        </p:nvSpPr>
        <p:spPr>
          <a:xfrm>
            <a:off x="1097280" y="4649724"/>
            <a:ext cx="292608" cy="292608"/>
          </a:xfrm>
          <a:prstGeom prst="ellipse">
            <a:avLst/>
          </a:prstGeom>
          <a:solidFill>
            <a:srgbClr val="028090"/>
          </a:solidFill>
          <a:ln/>
        </p:spPr>
      </p:sp>
      <p:sp>
        <p:nvSpPr>
          <p:cNvPr id="15" name="Text 13"/>
          <p:cNvSpPr/>
          <p:nvPr/>
        </p:nvSpPr>
        <p:spPr>
          <a:xfrm>
            <a:off x="1572768" y="4288536"/>
            <a:ext cx="2651760" cy="868680"/>
          </a:xfrm>
          <a:prstGeom prst="rect">
            <a:avLst/>
          </a:prstGeom>
          <a:noFill/>
          <a:ln/>
        </p:spPr>
        <p:txBody>
          <a:bodyPr wrap="square" lIns="0" tIns="0" rIns="0" bIns="0" rtlCol="0" anchor="ctr"/>
          <a:lstStyle/>
          <a:p>
            <a:pPr indent="0" marL="0">
              <a:buNone/>
            </a:pPr>
            <a:r>
              <a:rPr lang="en-US" sz="1500" b="1" dirty="0">
                <a:solidFill>
                  <a:srgbClr val="0B2E33"/>
                </a:solidFill>
                <a:latin typeface="Calibri" pitchFamily="34" charset="0"/>
                <a:ea typeface="Calibri" pitchFamily="34" charset="-122"/>
                <a:cs typeface="Calibri" pitchFamily="34" charset="-120"/>
              </a:rPr>
              <a:t>Retrieval</a:t>
            </a:r>
            <a:endParaRPr lang="en-US" sz="1500" dirty="0"/>
          </a:p>
        </p:txBody>
      </p:sp>
      <p:sp>
        <p:nvSpPr>
          <p:cNvPr id="16" name="Text 14"/>
          <p:cNvSpPr/>
          <p:nvPr/>
        </p:nvSpPr>
        <p:spPr>
          <a:xfrm>
            <a:off x="4343400" y="4288536"/>
            <a:ext cx="6675120" cy="868680"/>
          </a:xfrm>
          <a:prstGeom prst="rect">
            <a:avLst/>
          </a:prstGeom>
          <a:noFill/>
          <a:ln/>
        </p:spPr>
        <p:txBody>
          <a:bodyPr wrap="square" lIns="0" tIns="0" rIns="0" bIns="0" rtlCol="0" anchor="ctr"/>
          <a:lstStyle/>
          <a:p>
            <a:pPr indent="0" marL="0">
              <a:buNone/>
            </a:pPr>
            <a:r>
              <a:rPr lang="en-US" sz="1250" dirty="0">
                <a:solidFill>
                  <a:srgbClr val="4A6B70"/>
                </a:solidFill>
                <a:latin typeface="Calibri" pitchFamily="34" charset="0"/>
                <a:ea typeface="Calibri" pitchFamily="34" charset="-122"/>
                <a:cs typeface="Calibri" pitchFamily="34" charset="-120"/>
              </a:rPr>
              <a:t>ChromaDB and nomic embeddings over SOPs and uploads.</a:t>
            </a:r>
            <a:endParaRPr lang="en-US" sz="1250" dirty="0"/>
          </a:p>
        </p:txBody>
      </p:sp>
      <p:sp>
        <p:nvSpPr>
          <p:cNvPr id="17" name="Shape 15"/>
          <p:cNvSpPr/>
          <p:nvPr/>
        </p:nvSpPr>
        <p:spPr>
          <a:xfrm>
            <a:off x="822960" y="5312664"/>
            <a:ext cx="10515600" cy="868680"/>
          </a:xfrm>
          <a:prstGeom prst="roundRect">
            <a:avLst>
              <a:gd name="adj" fmla="val 8421"/>
            </a:avLst>
          </a:prstGeom>
          <a:solidFill>
            <a:srgbClr val="F2F7F7"/>
          </a:solidFill>
          <a:ln w="12700">
            <a:solidFill>
              <a:srgbClr val="D9E6E6"/>
            </a:solidFill>
            <a:prstDash val="solid"/>
          </a:ln>
        </p:spPr>
      </p:sp>
      <p:sp>
        <p:nvSpPr>
          <p:cNvPr id="18" name="Shape 16"/>
          <p:cNvSpPr/>
          <p:nvPr/>
        </p:nvSpPr>
        <p:spPr>
          <a:xfrm>
            <a:off x="1097280" y="5673852"/>
            <a:ext cx="292608" cy="292608"/>
          </a:xfrm>
          <a:prstGeom prst="ellipse">
            <a:avLst/>
          </a:prstGeom>
          <a:solidFill>
            <a:srgbClr val="028090"/>
          </a:solidFill>
          <a:ln/>
        </p:spPr>
      </p:sp>
      <p:sp>
        <p:nvSpPr>
          <p:cNvPr id="19" name="Text 17"/>
          <p:cNvSpPr/>
          <p:nvPr/>
        </p:nvSpPr>
        <p:spPr>
          <a:xfrm>
            <a:off x="1572768" y="5312664"/>
            <a:ext cx="2651760" cy="868680"/>
          </a:xfrm>
          <a:prstGeom prst="rect">
            <a:avLst/>
          </a:prstGeom>
          <a:noFill/>
          <a:ln/>
        </p:spPr>
        <p:txBody>
          <a:bodyPr wrap="square" lIns="0" tIns="0" rIns="0" bIns="0" rtlCol="0" anchor="ctr"/>
          <a:lstStyle/>
          <a:p>
            <a:pPr indent="0" marL="0">
              <a:buNone/>
            </a:pPr>
            <a:r>
              <a:rPr lang="en-US" sz="1500" b="1" dirty="0">
                <a:solidFill>
                  <a:srgbClr val="0B2E33"/>
                </a:solidFill>
                <a:latin typeface="Calibri" pitchFamily="34" charset="0"/>
                <a:ea typeface="Calibri" pitchFamily="34" charset="-122"/>
                <a:cs typeface="Calibri" pitchFamily="34" charset="-120"/>
              </a:rPr>
              <a:t>Arithmetic</a:t>
            </a:r>
            <a:endParaRPr lang="en-US" sz="1500" dirty="0"/>
          </a:p>
        </p:txBody>
      </p:sp>
      <p:sp>
        <p:nvSpPr>
          <p:cNvPr id="20" name="Text 18"/>
          <p:cNvSpPr/>
          <p:nvPr/>
        </p:nvSpPr>
        <p:spPr>
          <a:xfrm>
            <a:off x="4343400" y="5312664"/>
            <a:ext cx="6675120" cy="868680"/>
          </a:xfrm>
          <a:prstGeom prst="rect">
            <a:avLst/>
          </a:prstGeom>
          <a:noFill/>
          <a:ln/>
        </p:spPr>
        <p:txBody>
          <a:bodyPr wrap="square" lIns="0" tIns="0" rIns="0" bIns="0" rtlCol="0" anchor="ctr"/>
          <a:lstStyle/>
          <a:p>
            <a:pPr indent="0" marL="0">
              <a:buNone/>
            </a:pPr>
            <a:r>
              <a:rPr lang="en-US" sz="1250" dirty="0">
                <a:solidFill>
                  <a:srgbClr val="4A6B70"/>
                </a:solidFill>
                <a:latin typeface="Calibri" pitchFamily="34" charset="0"/>
                <a:ea typeface="Calibri" pitchFamily="34" charset="-122"/>
                <a:cs typeface="Calibri" pitchFamily="34" charset="-120"/>
              </a:rPr>
              <a:t>Every figure in pandas. FastAPI serves it, React draws it.</a:t>
            </a:r>
            <a:endParaRPr lang="en-US" sz="1250" dirty="0"/>
          </a:p>
        </p:txBody>
      </p:sp>
      <p:sp>
        <p:nvSpPr>
          <p:cNvPr id="21" name="Text 19"/>
          <p:cNvSpPr/>
          <p:nvPr/>
        </p:nvSpPr>
        <p:spPr>
          <a:xfrm>
            <a:off x="822960" y="6355080"/>
            <a:ext cx="10058400" cy="365760"/>
          </a:xfrm>
          <a:prstGeom prst="rect">
            <a:avLst/>
          </a:prstGeom>
          <a:noFill/>
          <a:ln/>
        </p:spPr>
        <p:txBody>
          <a:bodyPr wrap="square" lIns="0" tIns="0" rIns="0" bIns="0" rtlCol="0" anchor="ctr"/>
          <a:lstStyle/>
          <a:p>
            <a:pPr indent="0" marL="0">
              <a:buNone/>
            </a:pPr>
            <a:r>
              <a:rPr lang="en-US" sz="1350" i="1" dirty="0">
                <a:solidFill>
                  <a:srgbClr val="028090"/>
                </a:solidFill>
                <a:latin typeface="Calibri" pitchFamily="34" charset="0"/>
                <a:ea typeface="Calibri" pitchFamily="34" charset="-122"/>
                <a:cs typeface="Calibri" pitchFamily="34" charset="-120"/>
              </a:rPr>
              <a:t>15 machines, 5 lines, 30 days, 15 SOPs of realistic seeded data.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822960" y="1920240"/>
            <a:ext cx="82296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Have a look</a:t>
            </a:r>
            <a:endParaRPr lang="en-US" sz="4600" dirty="0"/>
          </a:p>
        </p:txBody>
      </p:sp>
      <p:sp>
        <p:nvSpPr>
          <p:cNvPr id="3" name="Text 1"/>
          <p:cNvSpPr/>
          <p:nvPr/>
        </p:nvSpPr>
        <p:spPr>
          <a:xfrm>
            <a:off x="822960" y="2880360"/>
            <a:ext cx="8046720" cy="822960"/>
          </a:xfrm>
          <a:prstGeom prst="rect">
            <a:avLst/>
          </a:prstGeom>
          <a:noFill/>
          <a:ln/>
        </p:spPr>
        <p:txBody>
          <a:bodyPr wrap="square" lIns="0" tIns="0" rIns="0" bIns="0" rtlCol="0" anchor="ctr"/>
          <a:lstStyle/>
          <a:p>
            <a:pPr indent="0" marL="0">
              <a:lnSpc>
                <a:spcPts val="2100"/>
              </a:lnSpc>
              <a:buNone/>
            </a:pPr>
            <a:r>
              <a:rPr lang="en-US" sz="1400" dirty="0">
                <a:solidFill>
                  <a:srgbClr val="B8D4D4"/>
                </a:solidFill>
                <a:latin typeface="Calibri" pitchFamily="34" charset="0"/>
                <a:ea typeface="Calibri" pitchFamily="34" charset="-122"/>
                <a:cs typeface="Calibri" pitchFamily="34" charset="-120"/>
              </a:rPr>
              <a:t>The preview runs the real interface on sample data. Generation and document search need a local model, so those are switched off there and the app says so.</a:t>
            </a:r>
            <a:endParaRPr lang="en-US" sz="1400" dirty="0"/>
          </a:p>
        </p:txBody>
      </p:sp>
      <p:sp>
        <p:nvSpPr>
          <p:cNvPr id="4" name="Shape 2"/>
          <p:cNvSpPr/>
          <p:nvPr/>
        </p:nvSpPr>
        <p:spPr>
          <a:xfrm>
            <a:off x="822960" y="4114800"/>
            <a:ext cx="6035040" cy="822960"/>
          </a:xfrm>
          <a:prstGeom prst="roundRect">
            <a:avLst>
              <a:gd name="adj" fmla="val 11111"/>
            </a:avLst>
          </a:prstGeom>
          <a:solidFill>
            <a:srgbClr val="02C39A"/>
          </a:solidFill>
          <a:ln/>
        </p:spPr>
      </p:sp>
      <p:sp>
        <p:nvSpPr>
          <p:cNvPr id="5" name="Text 3"/>
          <p:cNvSpPr/>
          <p:nvPr/>
        </p:nvSpPr>
        <p:spPr>
          <a:xfrm>
            <a:off x="822960" y="4114800"/>
            <a:ext cx="6035040" cy="822960"/>
          </a:xfrm>
          <a:prstGeom prst="rect">
            <a:avLst/>
          </a:prstGeom>
          <a:noFill/>
          <a:ln/>
        </p:spPr>
        <p:txBody>
          <a:bodyPr wrap="square" lIns="0" tIns="0" rIns="0" bIns="0" rtlCol="0" anchor="ctr"/>
          <a:lstStyle/>
          <a:p>
            <a:pPr algn="ctr" indent="0" marL="0">
              <a:buNone/>
            </a:pPr>
            <a:r>
              <a:rPr lang="en-US" sz="1600" b="1" dirty="0">
                <a:solidFill>
                  <a:srgbClr val="0B2E33"/>
                </a:solidFill>
                <a:latin typeface="Calibri" pitchFamily="34" charset="0"/>
                <a:ea typeface="Calibri" pitchFamily="34" charset="-122"/>
                <a:cs typeface="Calibri" pitchFamily="34" charset="-120"/>
              </a:rPr>
              <a:t>hchaloyan.github.io/XRiseHackathon</a:t>
            </a:r>
            <a:endParaRPr lang="en-US" sz="1600" dirty="0"/>
          </a:p>
        </p:txBody>
      </p:sp>
      <p:sp>
        <p:nvSpPr>
          <p:cNvPr id="6" name="Text 4"/>
          <p:cNvSpPr/>
          <p:nvPr/>
        </p:nvSpPr>
        <p:spPr>
          <a:xfrm>
            <a:off x="822960" y="5257800"/>
            <a:ext cx="8686800" cy="365760"/>
          </a:xfrm>
          <a:prstGeom prst="rect">
            <a:avLst/>
          </a:prstGeom>
          <a:noFill/>
          <a:ln/>
        </p:spPr>
        <p:txBody>
          <a:bodyPr wrap="square" lIns="0" tIns="0" rIns="0" bIns="0" rtlCol="0" anchor="ctr"/>
          <a:lstStyle/>
          <a:p>
            <a:pPr indent="0" marL="0">
              <a:buNone/>
            </a:pPr>
            <a:r>
              <a:rPr lang="en-US" sz="1300" dirty="0">
                <a:solidFill>
                  <a:srgbClr val="00A896"/>
                </a:solidFill>
                <a:latin typeface="Calibri" pitchFamily="34" charset="0"/>
                <a:ea typeface="Calibri" pitchFamily="34" charset="-122"/>
                <a:cs typeface="Calibri" pitchFamily="34" charset="-120"/>
              </a:rPr>
              <a:t>Source and full setup notes: github.com/hchaloyan/XRiseHackathon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MFGX AI</dc:title>
  <dc:subject>PptxGenJS Presentation</dc:subject>
  <dc:creator>MFGX AI</dc:creator>
  <cp:lastModifiedBy>MFGX AI</cp:lastModifiedBy>
  <cp:revision>1</cp:revision>
  <dcterms:created xsi:type="dcterms:W3CDTF">2026-08-17T12:29:51Z</dcterms:created>
  <dcterms:modified xsi:type="dcterms:W3CDTF">2026-08-17T12:29:51Z</dcterms:modified>
</cp:coreProperties>
</file>